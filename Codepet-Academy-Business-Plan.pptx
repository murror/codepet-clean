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6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820</c:v>
                </c:pt>
                <c:pt idx="1">
                  <c:v>950</c:v>
                </c:pt>
                <c:pt idx="2">
                  <c:v>1050</c:v>
                </c:pt>
                <c:pt idx="3">
                  <c:v>1280</c:v>
                </c:pt>
                <c:pt idx="4">
                  <c:v>1540</c:v>
                </c:pt>
                <c:pt idx="5">
                  <c:v>1820</c:v>
                </c:pt>
                <c:pt idx="6">
                  <c:v>2150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26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5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D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5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$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34AB7"/>
              </a:solidFill>
              <a:effectLst/>
            </c:spPr>
          </c:dPt>
          <c:dPt>
            <c:idx val="1"/>
            <c:bubble3D val="0"/>
            <c:spPr>
              <a:solidFill>
                <a:srgbClr val="8B7BE8"/>
              </a:solidFill>
              <a:effectLst/>
            </c:spPr>
          </c:dPt>
          <c:dPt>
            <c:idx val="2"/>
            <c:bubble3D val="0"/>
            <c:spPr>
              <a:solidFill>
                <a:srgbClr val="6B6582"/>
              </a:solidFill>
              <a:effectLst/>
            </c:spPr>
          </c:dPt>
          <c:dPt>
            <c:idx val="3"/>
            <c:bubble3D val="0"/>
            <c:spPr>
              <a:solidFill>
                <a:srgbClr val="E96A6A"/>
              </a:solidFill>
              <a:effectLst/>
            </c:spPr>
          </c:dPt>
          <c:dPt>
            <c:idx val="4"/>
            <c:bubble3D val="0"/>
            <c:spPr>
              <a:solidFill>
                <a:srgbClr val="D4A24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Founder coach time</c:v>
                </c:pt>
                <c:pt idx="1">
                  <c:v>AI / infra / ops</c:v>
                </c:pt>
                <c:pt idx="2">
                  <c:v>Materials &amp; venue</c:v>
                </c:pt>
                <c:pt idx="3">
                  <c:v>CAC</c:v>
                </c:pt>
                <c:pt idx="4">
                  <c:v>Profit retained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</c:v>
                </c:pt>
                <c:pt idx="1">
                  <c:v>3</c:v>
                </c:pt>
                <c:pt idx="2">
                  <c:v>2.5</c:v>
                </c:pt>
                <c:pt idx="3">
                  <c:v>10</c:v>
                </c:pt>
                <c:pt idx="4">
                  <c:v>76.5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2D2B2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534AB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D26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17000</c:v>
                </c:pt>
                <c:pt idx="1">
                  <c:v>35000</c:v>
                </c:pt>
                <c:pt idx="2">
                  <c:v>63000</c:v>
                </c:pt>
                <c:pt idx="3">
                  <c:v>100000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D26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5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D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5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Founders,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Different.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premium coding &amp; entrepreneurship program for Vietnam's next generation —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ages 12 to 30, taught by an AI pet companion that ships real products with them.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852160"/>
            <a:ext cx="10698480" cy="1828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MURROR  ·  murror.app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business plan  ·  v1.0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THESIS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parents who paid for piano now pay for AI.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are converging in Vietnam — and they will only converge once.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11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64008" cy="3108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3" y="2822753"/>
            <a:ext cx="435254" cy="435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566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868680" y="4617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private edtech market by 2027 (Statista, 2024)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2286000"/>
            <a:ext cx="3611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2286000"/>
            <a:ext cx="64008" cy="3108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265176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153" y="2822753"/>
            <a:ext cx="435254" cy="43525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3566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1.2M</a:t>
            </a:r>
            <a:endParaRPr lang="en-US" sz="6000" dirty="0"/>
          </a:p>
        </p:txBody>
      </p:sp>
      <p:sp>
        <p:nvSpPr>
          <p:cNvPr id="17" name="Text 13"/>
          <p:cNvSpPr/>
          <p:nvPr/>
        </p:nvSpPr>
        <p:spPr>
          <a:xfrm>
            <a:off x="4709160" y="4617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earning &gt;$30K/yr — willing to spend $1K+ per child on enrichment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229600" y="2286000"/>
            <a:ext cx="3611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0" y="2286000"/>
            <a:ext cx="64008" cy="3108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49640" y="265176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633" y="2822753"/>
            <a:ext cx="435254" cy="43525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549640" y="3566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6000" dirty="0"/>
          </a:p>
        </p:txBody>
      </p:sp>
      <p:sp>
        <p:nvSpPr>
          <p:cNvPr id="23" name="Text 18"/>
          <p:cNvSpPr/>
          <p:nvPr/>
        </p:nvSpPr>
        <p:spPr>
          <a:xfrm>
            <a:off x="8549640" y="4617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parents who believe AI fluency is critical by age 14 (HSBC, 2024)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parents in HCMC and Hanoi are the world's most underserved AI-education buyers — and they buy now.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camps teach syntax. Schools teach theory. Neither teaches shipping.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790" y="22485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Coding bootcamps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Scratch, Python, or web syntax. Kids finish a course and have nothing they can show, sell, or stand 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057400"/>
            <a:ext cx="868680" cy="86868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270" y="224851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schools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70916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at theory and exams. But "build a real product, find a customer, take money" is not on the curriculum.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29600" y="1737360"/>
            <a:ext cx="36118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2057400"/>
            <a:ext cx="868680" cy="86868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750" y="224851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108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changed the game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549640" y="365760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13-year-old with Cursor + Claude can ship a product in a weekend. Nobody is teaching them to think like founders while they do it.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5440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2194560" y="53949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AI-native, founder-mindset program designed for Vietnam's premium families — where the deliverable is a shipped product, not a certificate.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$4.2B market — and the premium tier is barely served.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64008" cy="44805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Vietnam premium edtech, sized.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$4.2B private edtech in Vietnam by 2027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38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13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$680M premium tier (intl. schools + top private) — ~340K students aged 10–22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799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(Y3)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6542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 obtainable share — 2% of premium tier @ avg $1.8K ARPU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2212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495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Intl. school families in HCMC District 2/7 + Hanoi Tay Ho — ~22K target households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0" y="1737360"/>
            <a:ext cx="5669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enrichment spend per child  (HCMC premium households, USD)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217920" y="2514600"/>
          <a:ext cx="51206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ICP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anyone 12+ who wants to become a future founder.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3703320"/>
          </a:xfrm>
          <a:prstGeom prst="rect">
            <a:avLst/>
          </a:prstGeom>
          <a:solidFill>
            <a:srgbClr val="2D2664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32120" y="2377440"/>
            <a:ext cx="1097280" cy="10972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3522" y="2618842"/>
            <a:ext cx="614477" cy="6144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657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12+  ·  NO UPPER LIMIT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Founder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1097280" y="46634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"For anyone 12 and older who wants to learn how to become a future founder —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build real products and run a company from a young age."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2D2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 / 3 months  ·  $9,600 / year (save 20%)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POSITIONING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coding camp. Not a junior MBA. An AI-native founder school.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943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↑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FOUNDER MINDSET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GENERIC COURSE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1737360"/>
            <a:ext cx="0" cy="4389120"/>
          </a:xfrm>
          <a:prstGeom prst="line">
            <a:avLst/>
          </a:prstGeom>
          <a:noFill/>
          <a:ln w="12700">
            <a:solidFill>
              <a:srgbClr val="E3DE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22960" y="3931920"/>
            <a:ext cx="5943600" cy="0"/>
          </a:xfrm>
          <a:prstGeom prst="line">
            <a:avLst/>
          </a:prstGeom>
          <a:noFill/>
          <a:ln w="12700">
            <a:solidFill>
              <a:srgbClr val="E3DE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664208" y="5047488"/>
            <a:ext cx="146304" cy="146304"/>
          </a:xfrm>
          <a:prstGeom prst="ellipse">
            <a:avLst/>
          </a:prstGeom>
          <a:solidFill>
            <a:srgbClr val="6B6582"/>
          </a:solidFill>
          <a:ln w="12700">
            <a:solidFill>
              <a:srgbClr val="6B65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5001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/ school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61488" y="5504688"/>
            <a:ext cx="146304" cy="146304"/>
          </a:xfrm>
          <a:prstGeom prst="ellipse">
            <a:avLst/>
          </a:prstGeom>
          <a:solidFill>
            <a:srgbClr val="6B6582"/>
          </a:solidFill>
          <a:ln w="12700">
            <a:solidFill>
              <a:srgbClr val="6B65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54589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MindX kids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07408" y="4864608"/>
            <a:ext cx="146304" cy="146304"/>
          </a:xfrm>
          <a:prstGeom prst="ellipse">
            <a:avLst/>
          </a:prstGeom>
          <a:solidFill>
            <a:srgbClr val="6B6582"/>
          </a:solidFill>
          <a:ln w="12700">
            <a:solidFill>
              <a:srgbClr val="6B65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818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Learning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04288" y="3310128"/>
            <a:ext cx="146304" cy="146304"/>
          </a:xfrm>
          <a:prstGeom prst="ellipse">
            <a:avLst/>
          </a:prstGeom>
          <a:solidFill>
            <a:srgbClr val="6B6582"/>
          </a:solidFill>
          <a:ln w="12700">
            <a:solidFill>
              <a:srgbClr val="6B65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3264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prep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3858768"/>
            <a:ext cx="146304" cy="146304"/>
          </a:xfrm>
          <a:prstGeom prst="ellipse">
            <a:avLst/>
          </a:prstGeom>
          <a:solidFill>
            <a:srgbClr val="6B6582"/>
          </a:solidFill>
          <a:ln w="12700">
            <a:solidFill>
              <a:srgbClr val="6B65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CoderSchool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2240280"/>
            <a:ext cx="822960" cy="8229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2395728"/>
            <a:ext cx="512064" cy="51206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08076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CODEPET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ACADEMY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315200" y="1737360"/>
            <a:ext cx="4297680" cy="4389120"/>
          </a:xfrm>
          <a:prstGeom prst="rect">
            <a:avLst/>
          </a:prstGeom>
          <a:solidFill>
            <a:srgbClr val="2D2664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315200" y="1737360"/>
            <a:ext cx="64008" cy="4389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promise.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589520" y="26060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cohort, your child will ship a real AI-powered product, find their first customer, and earn their first dollar.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58952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WE ARE NOT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589520" y="44348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bootcamp that ends in a certificate.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MBA program with no actual product.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 that asks parents to teach the kid themselves.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Codepet is the always-on co-pilot. The class is just the live layer.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student gets a Codepet — a pixel-art companion that holds the full curriculum, runs daily 15-min lessons, and walks them through their first product.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514600"/>
            <a:ext cx="960120" cy="96012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6" y="2725826"/>
            <a:ext cx="537667" cy="5376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mentor in their pocket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28800" y="2834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character roleplays as cofounder, mentor, customer. Adapts tone per age.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22860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514600"/>
            <a:ext cx="960120" cy="96012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506" y="2725826"/>
            <a:ext cx="537667" cy="5376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15-min loops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2834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hearts, coins gamify failure and keep kids returning between live sessions.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22860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2514600"/>
            <a:ext cx="960120" cy="96012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266" y="2725826"/>
            <a:ext cx="537667" cy="5376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1832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alongside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418320" y="28346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hand off to Cursor / Claude. Pet reviews code, asks questions, suggests next steps.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114800"/>
            <a:ext cx="960120" cy="96012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6" y="4326026"/>
            <a:ext cx="537667" cy="5376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288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coaching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828800" y="4434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Module 6, pet starts running customer-discovery sprints with the student.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343400" y="38862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6280" y="4114800"/>
            <a:ext cx="960120" cy="96012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506" y="4326026"/>
            <a:ext cx="537667" cy="5376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2356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dashboard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623560" y="4434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digest: what they built, what they learned, what they sold. Premium-parent-friendly.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138160" y="388620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21040" y="4114800"/>
            <a:ext cx="960120" cy="96012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266" y="4326026"/>
            <a:ext cx="537667" cy="53766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4183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by design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9418320" y="44348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social. No ads. No external chat. COPPA-grade controls for under-13.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Codepet does ~70% of the teaching. Live instructors do 30%. That's how we hit 83% gross margin at $1.8K ARPU.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PROGRAM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founder. One program. One promise: ship a real AI-agent product.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2286000"/>
          </a:xfrm>
          <a:prstGeom prst="rect">
            <a:avLst/>
          </a:prstGeom>
          <a:solidFill>
            <a:srgbClr val="2D2664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3200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40280"/>
            <a:ext cx="1371600" cy="137160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542032"/>
            <a:ext cx="768096" cy="768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0" y="2240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PERSONALLY BY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0" y="2532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ASTRO VINH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560320" y="3154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[Co-founder &amp; Lead Coach. Add 1-line bio: e.g., "Operator behind X. Built and shipped Y AI products. 10+ years founding companies."]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4160520"/>
            <a:ext cx="64008" cy="1417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389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12-week cohort,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founder-led live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410712" y="41605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10712" y="4160520"/>
            <a:ext cx="64008" cy="1417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39312" y="4389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39312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AI-agent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product, in market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272784" y="41605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72784" y="4160520"/>
            <a:ext cx="64008" cy="1417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01384" y="4389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01384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Build, manage,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 AI products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134856" y="416052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34856" y="4160520"/>
            <a:ext cx="64008" cy="1417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63456" y="4389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363456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startup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a real founder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D2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 / 3 months  ·  Save 20% with annual: $9,600 / year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CURRICULUM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weeks, 4 phases — from idea to a launched AI-agent product.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64008" cy="4160520"/>
          </a:xfrm>
          <a:prstGeom prst="rect">
            <a:avLst/>
          </a:prstGeom>
          <a:solidFill>
            <a:srgbClr val="8B7BE8"/>
          </a:solidFill>
          <a:ln w="12700">
            <a:solidFill>
              <a:srgbClr val="8B7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Mindset &amp; idea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on founder thinking — how operators see opportunity.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apart 10 real AI-agent products in market today.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wedge — one painful, narrow problem you'll solve.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Customer-discovery sprint: 20 real conversations.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783080"/>
            <a:ext cx="64008" cy="41605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39312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agent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39312" y="297180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stack: Cursor, Claude, agent frameworks, n8n.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the agent — you become the product manager.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V1 end-to-end with Astro reviewing weekly.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systems: APIs, payments, databases.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178308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783080"/>
            <a:ext cx="64008" cy="416052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01384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as a startup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1384" y="297180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mechanics: pricing, payments, legal, brand.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day — your first 10 paying customers.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the product: dashboards, support, churn.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every customer in week 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34856" y="1783080"/>
            <a:ext cx="26974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34856" y="1783080"/>
            <a:ext cx="64008" cy="41605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63456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or pivot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63456" y="297180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P&amp;L like a real founder. Decide.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channels: content, cold, partnerships.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pitch to Astro + a guest investor.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 post-program: keep going, or kill it cleanly.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Astro Vinh leads every cohort personally — weekly live workshop + 1:1 reviews + Demo Day. Codepet platform is the daily co-pilot in between.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graduate will be able to do — guaranteed in 12 weeks.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"After this program, you will independently build, manage, and operate an AI-agent product — and run it like a real startup."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926080"/>
            <a:ext cx="914400" cy="9144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12724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like a founder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783080" y="32918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opportunity where others see chaos. Make decisions under uncertainty. Pick what to ignore.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69748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2926080"/>
            <a:ext cx="914400" cy="9144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3127248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AI-agent products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77840" y="32918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code, and ship working AI agents end-to-end with Cursor, Claude, and modern frameworks.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269748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21040" y="2926080"/>
            <a:ext cx="914400" cy="9144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12724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7260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real customers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372600" y="32918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customer-discovery interviews. Validate demand before you build. Sell without sounding desperate.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48056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709160"/>
            <a:ext cx="914400" cy="9144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910328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8308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Operate a startup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783080" y="50749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payments, legal, brand, P&amp;L. Run a real business — not just a demo.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43400" y="448056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26280" y="4709160"/>
            <a:ext cx="914400" cy="9144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910328"/>
            <a:ext cx="512064" cy="5120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7784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your numbers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577840" y="50749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dashboards. Read retention, churn, LTV. Decide weekly: scale, pivot, or sunset.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38160" y="448056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21040" y="4709160"/>
            <a:ext cx="914400" cy="9144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910328"/>
            <a:ext cx="512064" cy="51206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37260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going alone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9372600" y="50749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Demo Day, you have a 90-day plan, the tools, and the muscle to operate without us.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Guarantee: if a graduate cannot ship a working AI-agent product by week 12, we re-enroll them in the next cohort, free.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WHY FOUNDER-LED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parents don't pay for content. They pay for who teaches 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4480560"/>
          </a:xfrm>
          <a:prstGeom prst="rect">
            <a:avLst/>
          </a:prstGeom>
          <a:solidFill>
            <a:srgbClr val="2D2664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514600"/>
            <a:ext cx="1097280" cy="10972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02" y="2756002"/>
            <a:ext cx="614477" cy="61447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02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VINH'S COACHING PHILOSOPHY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40280" y="2971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 first.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second.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14400" y="40690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4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"I'm not here to lecture. I'm here to ship alongside you — like a co-founder for 12 weeks. We make decisions together. You feel what real founder pressure feels like, in safety. That's the only way the lessons stick."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5669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ASTRO VINH, CO-FOUNDER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1737360"/>
            <a:ext cx="534924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1737360"/>
            <a:ext cx="64008" cy="44805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2011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beats group classes &amp; SaaS courses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537960" y="2651760"/>
            <a:ext cx="457200" cy="4572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75234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2651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Decisions, not lectures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178040" y="29443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reviews your real product weekly. You walk out with answers, not notes.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37960" y="3493008"/>
            <a:ext cx="457200" cy="4572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59359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178040" y="34930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founder pattern-matching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78040" y="37856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operator scars baked into every feedback loop. You skip mistakes that took us a decade.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537960" y="4334256"/>
            <a:ext cx="457200" cy="4572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434840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78040" y="4334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compounds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178040" y="462686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Astro's contacts open doors — investors, customers, hires — for graduates who deserve it.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537960" y="5175504"/>
            <a:ext cx="457200" cy="45720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5276088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78040" y="51755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 in the game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178040" y="546811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fail, Astro fails. That accountability makes the program work.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pay. The annual plan saves you $2,400.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3520440"/>
          </a:xfrm>
          <a:prstGeom prst="rect">
            <a:avLst/>
          </a:prstGeom>
          <a:solidFill>
            <a:srgbClr val="2D2664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40680" cy="320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PLAN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quarterly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$3,000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/ month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526280"/>
            <a:ext cx="4709160" cy="0"/>
          </a:xfrm>
          <a:prstGeom prst="line">
            <a:avLst/>
          </a:prstGeom>
          <a:noFill/>
          <a:ln w="9525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617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every 12 weeks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after current cohort, no commitment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440680" cy="3520440"/>
          </a:xfrm>
          <a:prstGeom prst="rect">
            <a:avLst/>
          </a:prstGeom>
          <a:solidFill>
            <a:srgbClr val="2D2664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691640"/>
            <a:ext cx="5440680" cy="3200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95560" y="2148840"/>
            <a:ext cx="1280160" cy="2926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1488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D2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20%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468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once, commit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2880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trike="sngStrike" dirty="0">
                <a:solidFill>
                  <a:srgbClr val="6B65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$12,000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31546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$9,600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6537960" y="4160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 / month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37960" y="4526280"/>
            <a:ext cx="4709160" cy="0"/>
          </a:xfrm>
          <a:prstGeom prst="line">
            <a:avLst/>
          </a:prstGeom>
          <a:noFill/>
          <a:ln w="9525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46177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once for 4 back-to-back cohorts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a full year of founder access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468112"/>
            <a:ext cx="332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trike="sngStrike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$12,000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1520" y="585216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cohorts paid quarterly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36720" y="5394960"/>
            <a:ext cx="368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 $2,400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107680" y="5468112"/>
            <a:ext cx="332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$9,600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107680" y="5897880"/>
            <a:ext cx="332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plan, paid once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29107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tiers, no upsells, no scholarships. The price is the price. The outcome is the outcome.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UNIT ECONOMICS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SKU, founder-led: ~85% gross margin and a 1-month CAC payback.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3-mo program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173736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78608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$2,700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78608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ARPU (after annual mix)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173736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71416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71416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27064" y="173736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64224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64224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CAC (Y1)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19872" y="173736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57032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57032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LTV / CAC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12680" y="1737360"/>
            <a:ext cx="1783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49840" y="1965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149840" y="2651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Annual-plan attach (target)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56692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657600"/>
            <a:ext cx="64008" cy="2743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Per-student P&amp;L  ·  blended (3-mo + annual mix)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297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(3-mo program)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42976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5171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Annual-plan discount blended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51713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($300)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7365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per program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47365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4956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coach time (allocated)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0" y="49560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($240)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51755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infra / ops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517550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($90)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5394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venue, swag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0" y="53949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($75)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6144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561441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$2,295  (85%)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" y="5833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(Y1 target)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58338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($300)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" y="60533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6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6053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$1,995  (74%)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3657600"/>
            <a:ext cx="52120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2940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every $1 of revenue goes</a:t>
            </a:r>
            <a:endParaRPr lang="en-US" sz="140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6629400" y="4297680"/>
          <a:ext cx="47548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the parent. Then win the school. Then scale.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3" y="209123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school partnerships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2240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BIS, ISHCMC, AIS, EIS, VAS, ISSP, Concordia. After-school program contracts + summer intensives. 3 paid pilots in Y1.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3611880" cy="27432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 schools by EOY1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173736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192024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273" y="2091233"/>
            <a:ext cx="435254" cy="4352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influencer network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40680" y="2240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 with 20 trusted Vietnamese mom influencers (Facebook + TikTok). 'My kid built X' content is the lead magnet.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43400" y="3200400"/>
            <a:ext cx="3611880" cy="27432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2628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 CAC blended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138160" y="173736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192024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091233"/>
            <a:ext cx="435254" cy="43525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35440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Day as marketing engine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235440" y="2240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public Demo Day at venue partners. Parents see other kids ship. Word-of-mouth flywheel ignites.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138160" y="3200400"/>
            <a:ext cx="3611880" cy="27432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2104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leads convert post-Demo Day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36576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384048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3" y="4011473"/>
            <a:ext cx="435254" cy="43525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459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MURROR brand halo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645920" y="4160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has growing organic reach. Free tier → paid course funnel. App store + landing page co-converts.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48640" y="5120640"/>
            <a:ext cx="3611880" cy="27432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3152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free→paid in Y2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343400" y="36576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26280" y="384048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273" y="4011473"/>
            <a:ext cx="435254" cy="43525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44068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Returning diaspora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440680" y="4160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families returning from US/AU. They miss US-style enrichment, recognise the format, pay quickly.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4343400" y="5120640"/>
            <a:ext cx="3611880" cy="27432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5262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Y1 revenue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138160" y="3657600"/>
            <a:ext cx="36118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321040" y="384048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011473"/>
            <a:ext cx="435254" cy="43525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2354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Alumni angel network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9235440" y="41605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Year-2: alumni parents become investors and referrers. Exclusive 'Codepet Founders Society' brand layer.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8138160" y="5120640"/>
            <a:ext cx="3611880" cy="27432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832104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 referral 25%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YEAR 1 PROJECTION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Slow, sure, profitable: 119 students and $215K in Year 1.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4008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revenue &amp; cumulative students  (Y1)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514600"/>
          <a:ext cx="58521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178040" y="1737360"/>
            <a:ext cx="4434840" cy="4023360"/>
          </a:xfrm>
          <a:prstGeom prst="rect">
            <a:avLst/>
          </a:prstGeom>
          <a:solidFill>
            <a:srgbClr val="2D2664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78040" y="1737360"/>
            <a:ext cx="64008" cy="40233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2011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Y1 model — key assumptions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52360" y="2514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run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464040" y="2514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1  ·  Q2: 1  ·  Q3: 2  ·  Q4: 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52360" y="28437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students / cohort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64040" y="28437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(capped at 15)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52360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(by students)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464040" y="31729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self-paced · 50% cohort · 15% 1:1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52360" y="3502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464040" y="35021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~$1,800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52360" y="38313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 Y1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464040" y="383133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~119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52360" y="4160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revenue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64040" y="41605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$215K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52360" y="4489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464040" y="44897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$172K (80%)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52360" y="4818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 (lean)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464040" y="48188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$140K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52360" y="5148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Y1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464040" y="51480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~$32K  (cash-flow positive)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Sensitivity: 20% downside (~$170K) if Q4 cohort fill slips. 30% upside (~$280K) if first intl-school contract closes in H2.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OPERATIONS &amp;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co-founders. One platform. Codepet does the heavy lifting in between.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513" y="213695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Astro Vinh — Co-founder &amp; Lead Coach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965960"/>
            <a:ext cx="685800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9659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FTE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4592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every cohort personally. Owns curriculum, weekly workshops, 1:1 reviews, Demo Day. The product is the founder.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173736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196596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273" y="2136953"/>
            <a:ext cx="435254" cy="4352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Co-founder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086600" y="1965960"/>
            <a:ext cx="685800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86600" y="19659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FTE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4068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ops, marketing, parent-success, school partnerships, finance. The reason the program runs.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138160" y="173736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21040" y="196596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136953"/>
            <a:ext cx="435254" cy="43525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354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 Success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10881360" y="1965960"/>
            <a:ext cx="685800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881360" y="19659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PT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923544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weekly digests, retention calls. Hired in Q3 once cohort #2 lands.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361188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384048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3" y="4011473"/>
            <a:ext cx="435254" cy="43525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6459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Codepet platform team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3291840" y="3840480"/>
            <a:ext cx="685800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291840" y="38404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645920" y="4206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MURROR core team. Builds the AI co-pilot, parent dashboard, content modules. Not a new hire.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343400" y="361188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26280" y="384048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273" y="4011473"/>
            <a:ext cx="435254" cy="43525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44068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founder coaches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7086600" y="3840480"/>
            <a:ext cx="685800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086600" y="38404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Per-cohort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5440680" y="4206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senior operators per cohort for guest sessions + Demo Day. Paid per appearance, not retained.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8138160" y="3611880"/>
            <a:ext cx="36118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321040" y="3840480"/>
            <a:ext cx="777240" cy="777240"/>
          </a:xfrm>
          <a:prstGeom prst="ellipse">
            <a:avLst/>
          </a:prstGeom>
          <a:solidFill>
            <a:srgbClr val="F5F3FA"/>
          </a:solidFill>
          <a:ln w="12700">
            <a:solidFill>
              <a:srgbClr val="F5F3FA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011473"/>
            <a:ext cx="435254" cy="43525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23544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community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10881360" y="3840480"/>
            <a:ext cx="685800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10881360" y="38404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PT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9235440" y="4206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alumni, Demo Day events. Hired Q4 when alumni network needs a steward.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Y1 headcount: 2 FTE co-founders + 1 PT (added Q3) + Codepet platform team. Fixed opex held under ~$140K — the entire program runs on founder cash flow.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COMPETITION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is doing AI-native, founder-mindset, in Vietnamese.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1828800"/>
                <a:gridCol w="201168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2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Codepet Academy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MindX (VN)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 Learning (US)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CoderSchool (VN)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6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Vietnam-first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HCMC + Hanoi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AI-native curriculum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Cursor + Claude 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Scratch-heavy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Ships real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Required 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for adults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mindset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Customer +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pet companion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Codepet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pricing $1–3K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$2K+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$1K+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D26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Parents see weekly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D2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Defensibility: Codepet IP (the pet companion + AI coach) + 12-month head start with Vietnam premium families + alumni network compounding.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months. Pilot → repeatable cohort engine → school B2B.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974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697480" cy="1005840"/>
          </a:xfrm>
          <a:prstGeom prst="rect">
            <a:avLst/>
          </a:prstGeom>
          <a:solidFill>
            <a:srgbClr val="8B7BE8"/>
          </a:solidFill>
          <a:ln w="12700">
            <a:solidFill>
              <a:srgbClr val="8B7B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Founder cohort × 12 students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Junior cohort × 12 students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v1 locked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Demo Day at HCMC 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1737360"/>
            <a:ext cx="26974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737360"/>
            <a:ext cx="2697480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39312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39312" y="29260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all 3 price tiers in market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parent-influencer co-marketing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school pilot signed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Codepet AI coach v2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1737360"/>
            <a:ext cx="26974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737360"/>
            <a:ext cx="2697480" cy="1005840"/>
          </a:xfrm>
          <a:prstGeom prst="rect">
            <a:avLst/>
          </a:prstGeom>
          <a:solidFill>
            <a:srgbClr val="2D2664"/>
          </a:solidFill>
          <a:ln w="12700">
            <a:solidFill>
              <a:srgbClr val="2D26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01384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01384" y="29260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Hanoi cohort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Parent Success FTE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6 cohorts simultaneously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alumni angel network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34856" y="1737360"/>
            <a:ext cx="26974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34856" y="1737360"/>
            <a:ext cx="2697480" cy="10058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63456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63456" y="29260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Studio launch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school annual contracts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event: Founders Society Gala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 fundraise prep / cash-flow positive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RISKS &amp; MITIGATIONS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worried about — and what we're doing about 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64008" cy="1508760"/>
          </a:xfrm>
          <a:prstGeom prst="rect">
            <a:avLst/>
          </a:prstGeom>
          <a:solidFill>
            <a:srgbClr val="E96A6A"/>
          </a:solidFill>
          <a:ln w="12700">
            <a:solidFill>
              <a:srgbClr val="E96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 see "play" and balk at premium pricing.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Outcome-first marketing: shipped products, real revenue from graduates, founder-led story. The $3K price IS the marketing — it filters in serious buyers.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9632" y="1737360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737360"/>
            <a:ext cx="64008" cy="1508760"/>
          </a:xfrm>
          <a:prstGeom prst="rect">
            <a:avLst/>
          </a:prstGeom>
          <a:solidFill>
            <a:srgbClr val="E96A6A"/>
          </a:solidFill>
          <a:ln w="12700">
            <a:solidFill>
              <a:srgbClr val="E96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9202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bandwidth — Astro Vinh is the bottleneck.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3952" y="2450592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1–2 cohorts simultaneously. Document everything via Codepet so a future master coach can be trained. Y2: clone Astro's playbook for second instructor.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10712"/>
            <a:ext cx="64008" cy="1508760"/>
          </a:xfrm>
          <a:prstGeom prst="rect">
            <a:avLst/>
          </a:prstGeom>
          <a:solidFill>
            <a:srgbClr val="E96A6A"/>
          </a:solidFill>
          <a:ln w="12700">
            <a:solidFill>
              <a:srgbClr val="E96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935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Refund risk / completion drop-off.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12394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money-back. Codepet daily co-pilot keeps momentum between live sessions. Founder accountability + small cohort = highest completion in category.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3410712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3410712"/>
            <a:ext cx="64008" cy="1508760"/>
          </a:xfrm>
          <a:prstGeom prst="rect">
            <a:avLst/>
          </a:prstGeom>
          <a:solidFill>
            <a:srgbClr val="E96A6A"/>
          </a:solidFill>
          <a:ln w="12700">
            <a:solidFill>
              <a:srgbClr val="E96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59359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Regulatory: youth + payments + AI in Vietnam.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412394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COPPA-grade controls, Vietnam education registration, parent consent flows, no model training on student data, clear AI disclosure.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84064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084064"/>
            <a:ext cx="64008" cy="1508760"/>
          </a:xfrm>
          <a:prstGeom prst="rect">
            <a:avLst/>
          </a:prstGeom>
          <a:solidFill>
            <a:srgbClr val="E96A6A"/>
          </a:solidFill>
          <a:ln w="12700">
            <a:solidFill>
              <a:srgbClr val="E96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26694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Competition from US / global edtech.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79729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Vietnam-first, Vietnamese-language, founder-led. The product is Astro. US incumbents cannot replicate the founder.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5084064"/>
            <a:ext cx="54864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9632" y="5084064"/>
            <a:ext cx="64008" cy="1508760"/>
          </a:xfrm>
          <a:prstGeom prst="rect">
            <a:avLst/>
          </a:prstGeom>
          <a:solidFill>
            <a:srgbClr val="E96A6A"/>
          </a:solidFill>
          <a:ln w="12700">
            <a:solidFill>
              <a:srgbClr val="E96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5266944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Codepet platform is still early (pre-MVP shipping).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73952" y="5797296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A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 </a:t>
            </a:r>
            <a:pPr indent="0" marL="0">
              <a:buNone/>
            </a:pPr>
            <a:r>
              <a:rPr lang="en-US" sz="11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cohort runs even with a stripped-down Codepet. Founder-led teaching carries the program. Platform upgrades are additive, not gating.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·  WHY IT WINS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 Vietnam, the next great</a:t>
            </a:r>
            <a:endParaRPr lang="en-US" sz="4400" dirty="0"/>
          </a:p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won't be born in the</a:t>
            </a:r>
            <a:endParaRPr lang="en-US" sz="4400" dirty="0"/>
          </a:p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Valley. They'll be 14, in District</a:t>
            </a:r>
            <a:endParaRPr lang="en-US" sz="4400" dirty="0"/>
          </a:p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 with a pet on their desk."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3520440" cy="1554480"/>
          </a:xfrm>
          <a:prstGeom prst="rect">
            <a:avLst/>
          </a:prstGeom>
          <a:solidFill>
            <a:srgbClr val="2D2664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4937760"/>
            <a:ext cx="914400" cy="91440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51389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time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11680" y="53766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just made shipping accessible at age 14.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4663440"/>
            <a:ext cx="3520440" cy="1554480"/>
          </a:xfrm>
          <a:prstGeom prst="rect">
            <a:avLst/>
          </a:prstGeom>
          <a:solidFill>
            <a:srgbClr val="2D2664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4937760"/>
            <a:ext cx="914400" cy="91440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513892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place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760720" y="53766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 premium families are ready and underserved.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0" y="4663440"/>
            <a:ext cx="3520440" cy="1554480"/>
          </a:xfrm>
          <a:prstGeom prst="rect">
            <a:avLst/>
          </a:prstGeom>
          <a:solidFill>
            <a:srgbClr val="2D2664"/>
          </a:solidFill>
          <a:ln w="9525">
            <a:solidFill>
              <a:srgbClr val="534AB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58200" y="4937760"/>
            <a:ext cx="914400" cy="91440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513892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0976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team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9509760" y="53766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MURROR + Codepet + a curriculum no one else has.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Confidential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E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20040" cy="6400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·  OPEN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decisions that will shape the v1 program.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language: Vietnamese, English, or bilingual? Astro's natural delivery + parent ICP both matter.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8745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cap: 8, 10, or 12 students max for V1? Tighter = better outcomes, slower revenue ramp.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29718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policy: 14-day full refund, or 'no refund but free re-enrol if outcome guarantee not met'?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3063240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86600" y="29718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plan: 4 back-to-back cohorts, or 1 cohort + alumni-only access for the rest of the year?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160520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0690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investors: real angels, MURROR network, or simulated for V1? Affects credibility + risk.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88620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40690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Brand: keep 'Codepet Academy' or launch as 'Astro Vinh Founder Program' powered by Codepet?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17320" y="51663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bandwidth: hard cap of 1 cohort at a time, or run 2 in parallel from Q3 onward?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498348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3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1A124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0" y="5257800"/>
            <a:ext cx="548640" cy="54864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26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86600" y="516636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schools: revisit in Y2 only, or open conversations with 2–3 international schools now?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step: lock pilot cohort dates + 5 founding-student commitments before refining anything else on this list.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Academy  ·  Business Plan  ·  MURROR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Codepet Academy — Business Plan</dc:title>
  <dc:subject>PptxGenJS Presentation</dc:subject>
  <dc:creator>MURROR — Codepet</dc:creator>
  <cp:lastModifiedBy>MURROR — Codepet</cp:lastModifiedBy>
  <cp:revision>1</cp:revision>
  <dcterms:created xsi:type="dcterms:W3CDTF">2026-05-09T00:42:04Z</dcterms:created>
  <dcterms:modified xsi:type="dcterms:W3CDTF">2026-05-09T00:42:04Z</dcterms:modified>
</cp:coreProperties>
</file>