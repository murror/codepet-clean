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1371600"/>
            <a:ext cx="4572000" cy="4572000"/>
          </a:xfrm>
          <a:prstGeom prst="ellipse">
            <a:avLst/>
          </a:prstGeom>
          <a:solidFill>
            <a:srgbClr val="2D2664">
              <a:alpha val="50000"/>
            </a:srgbClr>
          </a:solidFill>
          <a:ln/>
        </p:spPr>
      </p:sp>
      <p:sp>
        <p:nvSpPr>
          <p:cNvPr id="3" name="Shape 1"/>
          <p:cNvSpPr/>
          <p:nvPr/>
        </p:nvSpPr>
        <p:spPr>
          <a:xfrm>
            <a:off x="6400800" y="2743200"/>
            <a:ext cx="4572000" cy="4572000"/>
          </a:xfrm>
          <a:prstGeom prst="ellipse">
            <a:avLst/>
          </a:prstGeom>
          <a:solidFill>
            <a:srgbClr val="7B6BD8">
              <a:alpha val="45000"/>
            </a:srgbClr>
          </a:solidFill>
          <a:ln/>
        </p:spPr>
      </p:sp>
      <p:sp>
        <p:nvSpPr>
          <p:cNvPr id="4" name="Text 2"/>
          <p:cNvSpPr/>
          <p:nvPr/>
        </p:nvSpPr>
        <p:spPr>
          <a:xfrm>
            <a:off x="731520" y="914400"/>
            <a:ext cx="7315200" cy="228600"/>
          </a:xfrm>
          <a:prstGeom prst="rect">
            <a:avLst/>
          </a:prstGeom>
          <a:noFill/>
          <a:ln/>
        </p:spPr>
        <p:txBody>
          <a:bodyPr wrap="square" lIns="0" tIns="0" rIns="0" bIns="0" rtlCol="0" anchor="ctr"/>
          <a:lstStyle/>
          <a:p>
            <a:pPr indent="0" marL="0">
              <a:buNone/>
            </a:pPr>
            <a:r>
              <a:rPr lang="en-US" sz="700" b="1" spc="300" kern="0" dirty="0">
                <a:solidFill>
                  <a:srgbClr val="A89BF2"/>
                </a:solidFill>
                <a:latin typeface="Calibri" pitchFamily="34" charset="0"/>
                <a:ea typeface="Calibri" pitchFamily="34" charset="-122"/>
                <a:cs typeface="Calibri" pitchFamily="34" charset="-120"/>
              </a:rPr>
              <a:t>CODEPET × MURROR</a:t>
            </a:r>
            <a:endParaRPr lang="en-US" sz="700" dirty="0"/>
          </a:p>
        </p:txBody>
      </p:sp>
      <p:sp>
        <p:nvSpPr>
          <p:cNvPr id="5" name="Text 3"/>
          <p:cNvSpPr/>
          <p:nvPr/>
        </p:nvSpPr>
        <p:spPr>
          <a:xfrm>
            <a:off x="731520" y="1280160"/>
            <a:ext cx="7315200" cy="128016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Market Analysis &amp;</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Competitive Positioning</a:t>
            </a:r>
            <a:endParaRPr lang="en-US" sz="3600" dirty="0"/>
          </a:p>
        </p:txBody>
      </p:sp>
      <p:sp>
        <p:nvSpPr>
          <p:cNvPr id="6" name="Text 4"/>
          <p:cNvSpPr/>
          <p:nvPr/>
        </p:nvSpPr>
        <p:spPr>
          <a:xfrm>
            <a:off x="731520" y="2743200"/>
            <a:ext cx="6400800" cy="640080"/>
          </a:xfrm>
          <a:prstGeom prst="rect">
            <a:avLst/>
          </a:prstGeom>
          <a:noFill/>
          <a:ln/>
        </p:spPr>
        <p:txBody>
          <a:bodyPr wrap="square" lIns="0" tIns="0" rIns="0" bIns="0" rtlCol="0" anchor="ctr"/>
          <a:lstStyle/>
          <a:p>
            <a:pPr indent="0" marL="0">
              <a:buNone/>
            </a:pPr>
            <a:r>
              <a:rPr lang="en-US" sz="1300" dirty="0">
                <a:solidFill>
                  <a:srgbClr val="A89BF2"/>
                </a:solidFill>
                <a:latin typeface="Calibri" pitchFamily="34" charset="0"/>
                <a:ea typeface="Calibri" pitchFamily="34" charset="-122"/>
                <a:cs typeface="Calibri" pitchFamily="34" charset="-120"/>
              </a:rPr>
              <a:t>Vibecoding · Gamified Learning · AI Companions</a:t>
            </a:r>
            <a:endParaRPr lang="en-US" sz="1300" dirty="0"/>
          </a:p>
          <a:p>
            <a:pPr indent="0" marL="0">
              <a:buNone/>
            </a:pPr>
            <a:r>
              <a:rPr lang="en-US" sz="1300" dirty="0">
                <a:solidFill>
                  <a:srgbClr val="A89BF2"/>
                </a:solidFill>
                <a:latin typeface="Calibri" pitchFamily="34" charset="0"/>
                <a:ea typeface="Calibri" pitchFamily="34" charset="-122"/>
                <a:cs typeface="Calibri" pitchFamily="34" charset="-120"/>
              </a:rPr>
              <a:t>Where Codepet fits in a $64B market</a:t>
            </a:r>
            <a:endParaRPr lang="en-US" sz="1300" dirty="0"/>
          </a:p>
        </p:txBody>
      </p:sp>
      <p:sp>
        <p:nvSpPr>
          <p:cNvPr id="7" name="Shape 5"/>
          <p:cNvSpPr/>
          <p:nvPr/>
        </p:nvSpPr>
        <p:spPr>
          <a:xfrm>
            <a:off x="731520" y="3566160"/>
            <a:ext cx="2286000" cy="0"/>
          </a:xfrm>
          <a:prstGeom prst="line">
            <a:avLst/>
          </a:prstGeom>
          <a:noFill/>
          <a:ln w="25400">
            <a:solidFill>
              <a:srgbClr val="7B6BD8"/>
            </a:solidFill>
            <a:prstDash val="solid"/>
          </a:ln>
        </p:spPr>
      </p:sp>
      <p:sp>
        <p:nvSpPr>
          <p:cNvPr id="8" name="Text 6"/>
          <p:cNvSpPr/>
          <p:nvPr/>
        </p:nvSpPr>
        <p:spPr>
          <a:xfrm>
            <a:off x="731520" y="3840480"/>
            <a:ext cx="3657600" cy="274320"/>
          </a:xfrm>
          <a:prstGeom prst="rect">
            <a:avLst/>
          </a:prstGeom>
          <a:noFill/>
          <a:ln/>
        </p:spPr>
        <p:txBody>
          <a:bodyPr wrap="square" lIns="0" tIns="0" rIns="0" bIns="0" rtlCol="0" anchor="ctr"/>
          <a:lstStyle/>
          <a:p>
            <a:pPr indent="0" marL="0">
              <a:buNone/>
            </a:pPr>
            <a:r>
              <a:rPr lang="en-US" sz="1000" dirty="0">
                <a:solidFill>
                  <a:srgbClr val="A89BF2"/>
                </a:solidFill>
                <a:latin typeface="Calibri" pitchFamily="34" charset="0"/>
                <a:ea typeface="Calibri" pitchFamily="34" charset="-122"/>
                <a:cs typeface="Calibri" pitchFamily="34" charset="-120"/>
              </a:rPr>
              <a:t>April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C"/>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indent="0" marL="0">
              <a:buNone/>
            </a:pPr>
            <a:r>
              <a:rPr lang="en-US" sz="700" b="1" spc="300" kern="0" dirty="0">
                <a:solidFill>
                  <a:srgbClr val="7B6BD8"/>
                </a:solidFill>
                <a:latin typeface="Calibri" pitchFamily="34" charset="0"/>
                <a:ea typeface="Calibri" pitchFamily="34" charset="-122"/>
                <a:cs typeface="Calibri" pitchFamily="34" charset="-120"/>
              </a:rPr>
              <a:t>MARKET LANDSCAPE</a:t>
            </a:r>
            <a:endParaRPr lang="en-US" sz="700" dirty="0"/>
          </a:p>
        </p:txBody>
      </p:sp>
      <p:sp>
        <p:nvSpPr>
          <p:cNvPr id="3" name="Text 1"/>
          <p:cNvSpPr/>
          <p:nvPr/>
        </p:nvSpPr>
        <p:spPr>
          <a:xfrm>
            <a:off x="457200" y="45720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Three Markets Converging</a:t>
            </a:r>
            <a:endParaRPr lang="en-US" sz="2400" dirty="0"/>
          </a:p>
        </p:txBody>
      </p:sp>
      <p:sp>
        <p:nvSpPr>
          <p:cNvPr id="4" name="Shape 2"/>
          <p:cNvSpPr/>
          <p:nvPr/>
        </p:nvSpPr>
        <p:spPr>
          <a:xfrm>
            <a:off x="457200" y="1188720"/>
            <a:ext cx="8229600" cy="109728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5" name="Shape 3"/>
          <p:cNvSpPr/>
          <p:nvPr/>
        </p:nvSpPr>
        <p:spPr>
          <a:xfrm>
            <a:off x="457200" y="1188720"/>
            <a:ext cx="8229600" cy="54864"/>
          </a:xfrm>
          <a:prstGeom prst="rect">
            <a:avLst/>
          </a:prstGeom>
          <a:solidFill>
            <a:srgbClr val="2563EB"/>
          </a:solidFill>
          <a:ln/>
        </p:spPr>
      </p:sp>
      <p:sp>
        <p:nvSpPr>
          <p:cNvPr id="6" name="Text 4"/>
          <p:cNvSpPr/>
          <p:nvPr/>
        </p:nvSpPr>
        <p:spPr>
          <a:xfrm>
            <a:off x="640080" y="1371600"/>
            <a:ext cx="1280160" cy="457200"/>
          </a:xfrm>
          <a:prstGeom prst="rect">
            <a:avLst/>
          </a:prstGeom>
          <a:noFill/>
          <a:ln/>
        </p:spPr>
        <p:txBody>
          <a:bodyPr wrap="square" lIns="0" tIns="0" rIns="0" bIns="0" rtlCol="0" anchor="ctr"/>
          <a:lstStyle/>
          <a:p>
            <a:pPr indent="0" marL="0">
              <a:buNone/>
            </a:pPr>
            <a:r>
              <a:rPr lang="en-US" sz="2800" b="1" dirty="0">
                <a:solidFill>
                  <a:srgbClr val="2563EB"/>
                </a:solidFill>
                <a:latin typeface="Georgia" pitchFamily="34" charset="0"/>
                <a:ea typeface="Georgia" pitchFamily="34" charset="-122"/>
                <a:cs typeface="Georgia" pitchFamily="34" charset="-120"/>
              </a:rPr>
              <a:t>$63.9B</a:t>
            </a:r>
            <a:endParaRPr lang="en-US" sz="2800" dirty="0"/>
          </a:p>
        </p:txBody>
      </p:sp>
      <p:sp>
        <p:nvSpPr>
          <p:cNvPr id="7" name="Text 5"/>
          <p:cNvSpPr/>
          <p:nvPr/>
        </p:nvSpPr>
        <p:spPr>
          <a:xfrm>
            <a:off x="640080" y="1828800"/>
            <a:ext cx="128016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2025</a:t>
            </a:r>
            <a:endParaRPr lang="en-US" sz="900" dirty="0"/>
          </a:p>
        </p:txBody>
      </p:sp>
      <p:sp>
        <p:nvSpPr>
          <p:cNvPr id="8" name="Text 6"/>
          <p:cNvSpPr/>
          <p:nvPr/>
        </p:nvSpPr>
        <p:spPr>
          <a:xfrm>
            <a:off x="2103120" y="1325880"/>
            <a:ext cx="41148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Programming Education</a:t>
            </a:r>
            <a:endParaRPr lang="en-US" sz="1400" dirty="0"/>
          </a:p>
        </p:txBody>
      </p:sp>
      <p:sp>
        <p:nvSpPr>
          <p:cNvPr id="9" name="Text 7"/>
          <p:cNvSpPr/>
          <p:nvPr/>
        </p:nvSpPr>
        <p:spPr>
          <a:xfrm>
            <a:off x="2103120" y="1645920"/>
            <a:ext cx="4114800" cy="5029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The foundation — formal and informal coding education globally, driven by workforce demand.</a:t>
            </a:r>
            <a:endParaRPr lang="en-US" sz="900" dirty="0"/>
          </a:p>
        </p:txBody>
      </p:sp>
      <p:sp>
        <p:nvSpPr>
          <p:cNvPr id="10" name="Shape 8"/>
          <p:cNvSpPr/>
          <p:nvPr/>
        </p:nvSpPr>
        <p:spPr>
          <a:xfrm>
            <a:off x="6675120" y="1371600"/>
            <a:ext cx="1828800" cy="320040"/>
          </a:xfrm>
          <a:prstGeom prst="roundRect">
            <a:avLst>
              <a:gd name="adj" fmla="val 14286"/>
            </a:avLst>
          </a:prstGeom>
          <a:solidFill>
            <a:srgbClr val="2563EB">
              <a:alpha val="12000"/>
            </a:srgbClr>
          </a:solidFill>
          <a:ln/>
        </p:spPr>
      </p:sp>
      <p:sp>
        <p:nvSpPr>
          <p:cNvPr id="11" name="Text 9"/>
          <p:cNvSpPr/>
          <p:nvPr/>
        </p:nvSpPr>
        <p:spPr>
          <a:xfrm>
            <a:off x="6675120" y="1371600"/>
            <a:ext cx="1828800" cy="320040"/>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$260B by 2035</a:t>
            </a:r>
            <a:endParaRPr lang="en-US" sz="900" dirty="0"/>
          </a:p>
        </p:txBody>
      </p:sp>
      <p:sp>
        <p:nvSpPr>
          <p:cNvPr id="12" name="Text 10"/>
          <p:cNvSpPr/>
          <p:nvPr/>
        </p:nvSpPr>
        <p:spPr>
          <a:xfrm>
            <a:off x="6675120" y="1737360"/>
            <a:ext cx="1828800" cy="22860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CAGR 15%</a:t>
            </a:r>
            <a:endParaRPr lang="en-US" sz="800" dirty="0"/>
          </a:p>
        </p:txBody>
      </p:sp>
      <p:sp>
        <p:nvSpPr>
          <p:cNvPr id="13" name="Shape 11"/>
          <p:cNvSpPr/>
          <p:nvPr/>
        </p:nvSpPr>
        <p:spPr>
          <a:xfrm>
            <a:off x="457200" y="2423160"/>
            <a:ext cx="8229600" cy="109728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14" name="Shape 12"/>
          <p:cNvSpPr/>
          <p:nvPr/>
        </p:nvSpPr>
        <p:spPr>
          <a:xfrm>
            <a:off x="457200" y="2423160"/>
            <a:ext cx="8229600" cy="54864"/>
          </a:xfrm>
          <a:prstGeom prst="rect">
            <a:avLst/>
          </a:prstGeom>
          <a:solidFill>
            <a:srgbClr val="0D9488"/>
          </a:solidFill>
          <a:ln/>
        </p:spPr>
      </p:sp>
      <p:sp>
        <p:nvSpPr>
          <p:cNvPr id="15" name="Text 13"/>
          <p:cNvSpPr/>
          <p:nvPr/>
        </p:nvSpPr>
        <p:spPr>
          <a:xfrm>
            <a:off x="640080" y="2606040"/>
            <a:ext cx="1280160" cy="457200"/>
          </a:xfrm>
          <a:prstGeom prst="rect">
            <a:avLst/>
          </a:prstGeom>
          <a:noFill/>
          <a:ln/>
        </p:spPr>
        <p:txBody>
          <a:bodyPr wrap="square" lIns="0" tIns="0" rIns="0" bIns="0" rtlCol="0" anchor="ctr"/>
          <a:lstStyle/>
          <a:p>
            <a:pPr indent="0" marL="0">
              <a:buNone/>
            </a:pPr>
            <a:r>
              <a:rPr lang="en-US" sz="2800" b="1" dirty="0">
                <a:solidFill>
                  <a:srgbClr val="0D9488"/>
                </a:solidFill>
                <a:latin typeface="Georgia" pitchFamily="34" charset="0"/>
                <a:ea typeface="Georgia" pitchFamily="34" charset="-122"/>
                <a:cs typeface="Georgia" pitchFamily="34" charset="-120"/>
              </a:rPr>
              <a:t>$1.25B</a:t>
            </a:r>
            <a:endParaRPr lang="en-US" sz="2800" dirty="0"/>
          </a:p>
        </p:txBody>
      </p:sp>
      <p:sp>
        <p:nvSpPr>
          <p:cNvPr id="16" name="Text 14"/>
          <p:cNvSpPr/>
          <p:nvPr/>
        </p:nvSpPr>
        <p:spPr>
          <a:xfrm>
            <a:off x="640080" y="3063240"/>
            <a:ext cx="128016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2025</a:t>
            </a:r>
            <a:endParaRPr lang="en-US" sz="900" dirty="0"/>
          </a:p>
        </p:txBody>
      </p:sp>
      <p:sp>
        <p:nvSpPr>
          <p:cNvPr id="17" name="Text 15"/>
          <p:cNvSpPr/>
          <p:nvPr/>
        </p:nvSpPr>
        <p:spPr>
          <a:xfrm>
            <a:off x="2103120" y="2560320"/>
            <a:ext cx="41148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Gamification in Education</a:t>
            </a:r>
            <a:endParaRPr lang="en-US" sz="1400" dirty="0"/>
          </a:p>
        </p:txBody>
      </p:sp>
      <p:sp>
        <p:nvSpPr>
          <p:cNvPr id="18" name="Text 16"/>
          <p:cNvSpPr/>
          <p:nvPr/>
        </p:nvSpPr>
        <p:spPr>
          <a:xfrm>
            <a:off x="2103120" y="2880360"/>
            <a:ext cx="4114800" cy="5029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Fastest-growing segment. Badges, streaks, XP, leaderboards proven to boost engagement 48%.</a:t>
            </a:r>
            <a:endParaRPr lang="en-US" sz="900" dirty="0"/>
          </a:p>
        </p:txBody>
      </p:sp>
      <p:sp>
        <p:nvSpPr>
          <p:cNvPr id="19" name="Shape 17"/>
          <p:cNvSpPr/>
          <p:nvPr/>
        </p:nvSpPr>
        <p:spPr>
          <a:xfrm>
            <a:off x="6675120" y="2606040"/>
            <a:ext cx="1828800" cy="320040"/>
          </a:xfrm>
          <a:prstGeom prst="roundRect">
            <a:avLst>
              <a:gd name="adj" fmla="val 14286"/>
            </a:avLst>
          </a:prstGeom>
          <a:solidFill>
            <a:srgbClr val="0D9488">
              <a:alpha val="12000"/>
            </a:srgbClr>
          </a:solidFill>
          <a:ln/>
        </p:spPr>
      </p:sp>
      <p:sp>
        <p:nvSpPr>
          <p:cNvPr id="20" name="Text 18"/>
          <p:cNvSpPr/>
          <p:nvPr/>
        </p:nvSpPr>
        <p:spPr>
          <a:xfrm>
            <a:off x="6675120" y="2606040"/>
            <a:ext cx="1828800" cy="320040"/>
          </a:xfrm>
          <a:prstGeom prst="rect">
            <a:avLst/>
          </a:prstGeom>
          <a:noFill/>
          <a:ln/>
        </p:spPr>
        <p:txBody>
          <a:bodyPr wrap="square" lIns="0" tIns="0" rIns="0" bIns="0" rtlCol="0" anchor="ctr"/>
          <a:lstStyle/>
          <a:p>
            <a:pPr algn="ctr" indent="0" marL="0">
              <a:buNone/>
            </a:pPr>
            <a:r>
              <a:rPr lang="en-US" sz="900" b="1" dirty="0">
                <a:solidFill>
                  <a:srgbClr val="0D9488"/>
                </a:solidFill>
                <a:latin typeface="Calibri" pitchFamily="34" charset="0"/>
                <a:ea typeface="Calibri" pitchFamily="34" charset="-122"/>
                <a:cs typeface="Calibri" pitchFamily="34" charset="-120"/>
              </a:rPr>
              <a:t>$20.6B by 2033</a:t>
            </a:r>
            <a:endParaRPr lang="en-US" sz="900" dirty="0"/>
          </a:p>
        </p:txBody>
      </p:sp>
      <p:sp>
        <p:nvSpPr>
          <p:cNvPr id="21" name="Text 19"/>
          <p:cNvSpPr/>
          <p:nvPr/>
        </p:nvSpPr>
        <p:spPr>
          <a:xfrm>
            <a:off x="6675120" y="2971800"/>
            <a:ext cx="1828800" cy="22860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CAGR 38.2%</a:t>
            </a:r>
            <a:endParaRPr lang="en-US" sz="800" dirty="0"/>
          </a:p>
        </p:txBody>
      </p:sp>
      <p:sp>
        <p:nvSpPr>
          <p:cNvPr id="22" name="Shape 20"/>
          <p:cNvSpPr/>
          <p:nvPr/>
        </p:nvSpPr>
        <p:spPr>
          <a:xfrm>
            <a:off x="457200" y="3657600"/>
            <a:ext cx="8229600" cy="109728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23" name="Shape 21"/>
          <p:cNvSpPr/>
          <p:nvPr/>
        </p:nvSpPr>
        <p:spPr>
          <a:xfrm>
            <a:off x="457200" y="3657600"/>
            <a:ext cx="8229600" cy="54864"/>
          </a:xfrm>
          <a:prstGeom prst="rect">
            <a:avLst/>
          </a:prstGeom>
          <a:solidFill>
            <a:srgbClr val="534AB7"/>
          </a:solidFill>
          <a:ln/>
        </p:spPr>
      </p:sp>
      <p:sp>
        <p:nvSpPr>
          <p:cNvPr id="24" name="Text 22"/>
          <p:cNvSpPr/>
          <p:nvPr/>
        </p:nvSpPr>
        <p:spPr>
          <a:xfrm>
            <a:off x="640080" y="3840480"/>
            <a:ext cx="1280160" cy="457200"/>
          </a:xfrm>
          <a:prstGeom prst="rect">
            <a:avLst/>
          </a:prstGeom>
          <a:noFill/>
          <a:ln/>
        </p:spPr>
        <p:txBody>
          <a:bodyPr wrap="square" lIns="0" tIns="0" rIns="0" bIns="0" rtlCol="0" anchor="ctr"/>
          <a:lstStyle/>
          <a:p>
            <a:pPr indent="0" marL="0">
              <a:buNone/>
            </a:pPr>
            <a:r>
              <a:rPr lang="en-US" sz="2800" b="1" dirty="0">
                <a:solidFill>
                  <a:srgbClr val="534AB7"/>
                </a:solidFill>
                <a:latin typeface="Georgia" pitchFamily="34" charset="0"/>
                <a:ea typeface="Georgia" pitchFamily="34" charset="-122"/>
                <a:cs typeface="Georgia" pitchFamily="34" charset="-120"/>
              </a:rPr>
              <a:t>$4.7B</a:t>
            </a:r>
            <a:endParaRPr lang="en-US" sz="2800" dirty="0"/>
          </a:p>
        </p:txBody>
      </p:sp>
      <p:sp>
        <p:nvSpPr>
          <p:cNvPr id="25" name="Text 23"/>
          <p:cNvSpPr/>
          <p:nvPr/>
        </p:nvSpPr>
        <p:spPr>
          <a:xfrm>
            <a:off x="640080" y="4297680"/>
            <a:ext cx="128016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2025</a:t>
            </a:r>
            <a:endParaRPr lang="en-US" sz="900" dirty="0"/>
          </a:p>
        </p:txBody>
      </p:sp>
      <p:sp>
        <p:nvSpPr>
          <p:cNvPr id="26" name="Text 24"/>
          <p:cNvSpPr/>
          <p:nvPr/>
        </p:nvSpPr>
        <p:spPr>
          <a:xfrm>
            <a:off x="2103120" y="3794760"/>
            <a:ext cx="41148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Vibecoding / AI Tools</a:t>
            </a:r>
            <a:endParaRPr lang="en-US" sz="1400" dirty="0"/>
          </a:p>
        </p:txBody>
      </p:sp>
      <p:sp>
        <p:nvSpPr>
          <p:cNvPr id="27" name="Text 25"/>
          <p:cNvSpPr/>
          <p:nvPr/>
        </p:nvSpPr>
        <p:spPr>
          <a:xfrm>
            <a:off x="2103120" y="4114800"/>
            <a:ext cx="4114800" cy="5029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AI-assisted development going mainstream. 40% enterprise adoption in 2026. Copilot has 20M+ users.</a:t>
            </a:r>
            <a:endParaRPr lang="en-US" sz="900" dirty="0"/>
          </a:p>
        </p:txBody>
      </p:sp>
      <p:sp>
        <p:nvSpPr>
          <p:cNvPr id="28" name="Shape 26"/>
          <p:cNvSpPr/>
          <p:nvPr/>
        </p:nvSpPr>
        <p:spPr>
          <a:xfrm>
            <a:off x="6675120" y="3840480"/>
            <a:ext cx="1828800" cy="320040"/>
          </a:xfrm>
          <a:prstGeom prst="roundRect">
            <a:avLst>
              <a:gd name="adj" fmla="val 14286"/>
            </a:avLst>
          </a:prstGeom>
          <a:solidFill>
            <a:srgbClr val="534AB7">
              <a:alpha val="12000"/>
            </a:srgbClr>
          </a:solidFill>
          <a:ln/>
        </p:spPr>
      </p:sp>
      <p:sp>
        <p:nvSpPr>
          <p:cNvPr id="29" name="Text 27"/>
          <p:cNvSpPr/>
          <p:nvPr/>
        </p:nvSpPr>
        <p:spPr>
          <a:xfrm>
            <a:off x="6675120" y="3840480"/>
            <a:ext cx="1828800" cy="320040"/>
          </a:xfrm>
          <a:prstGeom prst="rect">
            <a:avLst/>
          </a:prstGeom>
          <a:noFill/>
          <a:ln/>
        </p:spPr>
        <p:txBody>
          <a:bodyPr wrap="square" lIns="0" tIns="0" rIns="0" bIns="0" rtlCol="0" anchor="ctr"/>
          <a:lstStyle/>
          <a:p>
            <a:pPr algn="ctr" indent="0" marL="0">
              <a:buNone/>
            </a:pPr>
            <a:r>
              <a:rPr lang="en-US" sz="900" b="1" dirty="0">
                <a:solidFill>
                  <a:srgbClr val="534AB7"/>
                </a:solidFill>
                <a:latin typeface="Calibri" pitchFamily="34" charset="0"/>
                <a:ea typeface="Calibri" pitchFamily="34" charset="-122"/>
                <a:cs typeface="Calibri" pitchFamily="34" charset="-120"/>
              </a:rPr>
              <a:t>$12.3B by 2027</a:t>
            </a:r>
            <a:endParaRPr lang="en-US" sz="900" dirty="0"/>
          </a:p>
        </p:txBody>
      </p:sp>
      <p:sp>
        <p:nvSpPr>
          <p:cNvPr id="30" name="Text 28"/>
          <p:cNvSpPr/>
          <p:nvPr/>
        </p:nvSpPr>
        <p:spPr>
          <a:xfrm>
            <a:off x="6675120" y="4206240"/>
            <a:ext cx="1828800" cy="22860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CAGR 38%</a:t>
            </a:r>
            <a:endParaRPr lang="en-US" sz="800" dirty="0"/>
          </a:p>
        </p:txBody>
      </p:sp>
      <p:sp>
        <p:nvSpPr>
          <p:cNvPr id="31" name="Text 29"/>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000" b="1" i="1" dirty="0">
                <a:solidFill>
                  <a:srgbClr val="534AB7"/>
                </a:solidFill>
                <a:latin typeface="Calibri" pitchFamily="34" charset="0"/>
                <a:ea typeface="Calibri" pitchFamily="34" charset="-122"/>
                <a:cs typeface="Calibri" pitchFamily="34" charset="-120"/>
              </a:rPr>
              <a:t>Codepet sits at the intersection of all three — a rare positioning advantage.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C"/>
        </a:solidFill>
      </p:bgPr>
    </p:bg>
    <p:spTree>
      <p:nvGrpSpPr>
        <p:cNvPr id="1" name=""/>
        <p:cNvGrpSpPr/>
        <p:nvPr/>
      </p:nvGrpSpPr>
      <p:grpSpPr>
        <a:xfrm>
          <a:off x="0" y="0"/>
          <a:ext cx="0" cy="0"/>
          <a:chOff x="0" y="0"/>
          <a:chExt cx="0" cy="0"/>
        </a:xfrm>
      </p:grpSpPr>
      <p:sp>
        <p:nvSpPr>
          <p:cNvPr id="2" name="Text 0"/>
          <p:cNvSpPr/>
          <p:nvPr/>
        </p:nvSpPr>
        <p:spPr>
          <a:xfrm>
            <a:off x="457200" y="182880"/>
            <a:ext cx="8229600" cy="228600"/>
          </a:xfrm>
          <a:prstGeom prst="rect">
            <a:avLst/>
          </a:prstGeom>
          <a:noFill/>
          <a:ln/>
        </p:spPr>
        <p:txBody>
          <a:bodyPr wrap="square" lIns="0" tIns="0" rIns="0" bIns="0" rtlCol="0" anchor="ctr"/>
          <a:lstStyle/>
          <a:p>
            <a:pPr indent="0" marL="0">
              <a:buNone/>
            </a:pPr>
            <a:r>
              <a:rPr lang="en-US" sz="700" b="1" spc="300" kern="0" dirty="0">
                <a:solidFill>
                  <a:srgbClr val="7B6BD8"/>
                </a:solidFill>
                <a:latin typeface="Calibri" pitchFamily="34" charset="0"/>
                <a:ea typeface="Calibri" pitchFamily="34" charset="-122"/>
                <a:cs typeface="Calibri" pitchFamily="34" charset="-120"/>
              </a:rPr>
              <a:t>COMPETITIVE LANDSCAPE</a:t>
            </a:r>
            <a:endParaRPr lang="en-US" sz="700" dirty="0"/>
          </a:p>
        </p:txBody>
      </p:sp>
      <p:sp>
        <p:nvSpPr>
          <p:cNvPr id="3" name="Text 1"/>
          <p:cNvSpPr/>
          <p:nvPr/>
        </p:nvSpPr>
        <p:spPr>
          <a:xfrm>
            <a:off x="457200" y="411480"/>
            <a:ext cx="8229600" cy="41148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Who's in the Arena</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1005840"/>
                <a:gridCol w="1188720"/>
                <a:gridCol w="2468880"/>
                <a:gridCol w="1828800"/>
                <a:gridCol w="731520"/>
              </a:tblGrid>
              <a:tr h="274320">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Competitor</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2664"/>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Category</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2664"/>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Key Strength</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2664"/>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Users / Revenue</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2664"/>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Threat Level</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2664"/>
                    </a:solidFill>
                  </a:tcPr>
                </a:tc>
              </a:tr>
              <a:tr h="347472">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Mimo</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Gamified Learning</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Duolingo-style UX, mobile-first, $10M rev</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$10M ARR / 80k downloads/mo</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DC2626"/>
                          </a:solidFill>
                          <a:latin typeface="Calibri" pitchFamily="34" charset="0"/>
                          <a:ea typeface="Calibri" pitchFamily="34" charset="-122"/>
                          <a:cs typeface="Calibri" pitchFamily="34" charset="-120"/>
                        </a:rPr>
                        <a:t>HIGH</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Sololearn</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Gamified Learning</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20+ languages, community battles, code playground</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40M+ users globally</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800" b="1" dirty="0">
                          <a:solidFill>
                            <a:srgbClr val="DC2626"/>
                          </a:solidFill>
                          <a:latin typeface="Calibri" pitchFamily="34" charset="0"/>
                          <a:ea typeface="Calibri" pitchFamily="34" charset="-122"/>
                          <a:cs typeface="Calibri" pitchFamily="34" charset="-120"/>
                        </a:rPr>
                        <a:t>HIGH</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Grasshopper</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Gamified Learning</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Free (Google), JS-focused, beautiful mobile UX</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Millions (Google-backed)</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D97706"/>
                          </a:solidFill>
                          <a:latin typeface="Calibri" pitchFamily="34" charset="0"/>
                          <a:ea typeface="Calibri" pitchFamily="34" charset="-122"/>
                          <a:cs typeface="Calibri" pitchFamily="34" charset="-120"/>
                        </a:rPr>
                        <a:t>MEDIUM</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CodenQuest</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Gamified Algorithms</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Duolingo for algorithms, league system, interview prep</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Growing / niche</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800" b="1" dirty="0">
                          <a:solidFill>
                            <a:srgbClr val="D97706"/>
                          </a:solidFill>
                          <a:latin typeface="Calibri" pitchFamily="34" charset="0"/>
                          <a:ea typeface="Calibri" pitchFamily="34" charset="-122"/>
                          <a:cs typeface="Calibri" pitchFamily="34" charset="-120"/>
                        </a:rPr>
                        <a:t>MEDIUM</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Codecademy</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Structured + AI</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AI Builder, 'vibe learning', GPT-4o tutor, projects</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Enterprise + Pro tiers</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D97706"/>
                          </a:solidFill>
                          <a:latin typeface="Calibri" pitchFamily="34" charset="0"/>
                          <a:ea typeface="Calibri" pitchFamily="34" charset="-122"/>
                          <a:cs typeface="Calibri" pitchFamily="34" charset="-120"/>
                        </a:rPr>
                        <a:t>MEDIUM</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GitHub Copilot</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AI Coding Tool</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20M+ users, works in any IDE, $10/mo, agent mode</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20M+ users / 90% Fortune 100</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800" b="1" dirty="0">
                          <a:solidFill>
                            <a:srgbClr val="0D9488"/>
                          </a:solidFill>
                          <a:latin typeface="Calibri" pitchFamily="34" charset="0"/>
                          <a:ea typeface="Calibri" pitchFamily="34" charset="-122"/>
                          <a:cs typeface="Calibri" pitchFamily="34" charset="-120"/>
                        </a:rPr>
                        <a:t>LOW*</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Claude Buddy</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AI Pet Companion</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Terminal pet, 18 species, reacts to coding sessions</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Anthropic / Claude Code Pro</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DC2626"/>
                          </a:solidFill>
                          <a:latin typeface="Calibri" pitchFamily="34" charset="0"/>
                          <a:ea typeface="Calibri" pitchFamily="34" charset="-122"/>
                          <a:cs typeface="Calibri" pitchFamily="34" charset="-120"/>
                        </a:rPr>
                        <a:t>HIGH</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Cursor</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AI-native IDE</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Full IDE with AI, Composer, background agents</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$20/mo, fastest-growing IDE</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800" b="1" dirty="0">
                          <a:solidFill>
                            <a:srgbClr val="0D9488"/>
                          </a:solidFill>
                          <a:latin typeface="Calibri" pitchFamily="34" charset="0"/>
                          <a:ea typeface="Calibri" pitchFamily="34" charset="-122"/>
                          <a:cs typeface="Calibri" pitchFamily="34" charset="-120"/>
                        </a:rPr>
                        <a:t>LOW*</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Enki</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Daily Practice</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Spaced repetition, daily 'workouts', habit-building</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750" dirty="0">
                          <a:solidFill>
                            <a:srgbClr val="1E293B"/>
                          </a:solidFill>
                          <a:latin typeface="Calibri" pitchFamily="34" charset="0"/>
                          <a:ea typeface="Calibri" pitchFamily="34" charset="-122"/>
                          <a:cs typeface="Calibri" pitchFamily="34" charset="-120"/>
                        </a:rPr>
                        <a:t>Niche audience</a:t>
                      </a:r>
                      <a:endParaRPr lang="en-US" sz="7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D9488"/>
                          </a:solidFill>
                          <a:latin typeface="Calibri" pitchFamily="34" charset="0"/>
                          <a:ea typeface="Calibri" pitchFamily="34" charset="-122"/>
                          <a:cs typeface="Calibri" pitchFamily="34" charset="-120"/>
                        </a:rPr>
                        <a:t>LOW</a:t>
                      </a:r>
                      <a:endParaRPr lang="en-US" sz="8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4572000"/>
            <a:ext cx="8229600" cy="274320"/>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*LOW threat = different category (productivity, not learning), but shapes user expectations.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C"/>
        </a:solidFill>
      </p:bgPr>
    </p:bg>
    <p:spTree>
      <p:nvGrpSpPr>
        <p:cNvPr id="1" name=""/>
        <p:cNvGrpSpPr/>
        <p:nvPr/>
      </p:nvGrpSpPr>
      <p:grpSpPr>
        <a:xfrm>
          <a:off x="0" y="0"/>
          <a:ext cx="0" cy="0"/>
          <a:chOff x="0" y="0"/>
          <a:chExt cx="0" cy="0"/>
        </a:xfrm>
      </p:grpSpPr>
      <p:sp>
        <p:nvSpPr>
          <p:cNvPr id="2" name="Text 0"/>
          <p:cNvSpPr/>
          <p:nvPr/>
        </p:nvSpPr>
        <p:spPr>
          <a:xfrm>
            <a:off x="457200" y="182880"/>
            <a:ext cx="8229600" cy="228600"/>
          </a:xfrm>
          <a:prstGeom prst="rect">
            <a:avLst/>
          </a:prstGeom>
          <a:noFill/>
          <a:ln/>
        </p:spPr>
        <p:txBody>
          <a:bodyPr wrap="square" lIns="0" tIns="0" rIns="0" bIns="0" rtlCol="0" anchor="ctr"/>
          <a:lstStyle/>
          <a:p>
            <a:pPr indent="0" marL="0">
              <a:buNone/>
            </a:pPr>
            <a:r>
              <a:rPr lang="en-US" sz="700" b="1" spc="300" kern="0" dirty="0">
                <a:solidFill>
                  <a:srgbClr val="7B6BD8"/>
                </a:solidFill>
                <a:latin typeface="Calibri" pitchFamily="34" charset="0"/>
                <a:ea typeface="Calibri" pitchFamily="34" charset="-122"/>
                <a:cs typeface="Calibri" pitchFamily="34" charset="-120"/>
              </a:rPr>
              <a:t>COMPETITOR SPOTLIGHT</a:t>
            </a:r>
            <a:endParaRPr lang="en-US" sz="700" dirty="0"/>
          </a:p>
        </p:txBody>
      </p:sp>
      <p:sp>
        <p:nvSpPr>
          <p:cNvPr id="3" name="Text 1"/>
          <p:cNvSpPr/>
          <p:nvPr/>
        </p:nvSpPr>
        <p:spPr>
          <a:xfrm>
            <a:off x="457200" y="411480"/>
            <a:ext cx="82296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Claude Buddy — The Elephant in the Room</a:t>
            </a:r>
            <a:endParaRPr lang="en-US" sz="2200" dirty="0"/>
          </a:p>
        </p:txBody>
      </p:sp>
      <p:sp>
        <p:nvSpPr>
          <p:cNvPr id="4" name="Shape 2"/>
          <p:cNvSpPr/>
          <p:nvPr/>
        </p:nvSpPr>
        <p:spPr>
          <a:xfrm>
            <a:off x="457200" y="1005840"/>
            <a:ext cx="3931920" cy="347472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5" name="Shape 3"/>
          <p:cNvSpPr/>
          <p:nvPr/>
        </p:nvSpPr>
        <p:spPr>
          <a:xfrm>
            <a:off x="457200" y="1005840"/>
            <a:ext cx="3931920" cy="54864"/>
          </a:xfrm>
          <a:prstGeom prst="rect">
            <a:avLst/>
          </a:prstGeom>
          <a:solidFill>
            <a:srgbClr val="DC2626"/>
          </a:solidFill>
          <a:ln/>
        </p:spPr>
      </p:sp>
      <p:sp>
        <p:nvSpPr>
          <p:cNvPr id="6" name="Text 4"/>
          <p:cNvSpPr/>
          <p:nvPr/>
        </p:nvSpPr>
        <p:spPr>
          <a:xfrm>
            <a:off x="640080" y="1188720"/>
            <a:ext cx="3566160" cy="274320"/>
          </a:xfrm>
          <a:prstGeom prst="rect">
            <a:avLst/>
          </a:prstGeom>
          <a:noFill/>
          <a:ln/>
        </p:spPr>
        <p:txBody>
          <a:bodyPr wrap="square" lIns="0" tIns="0" rIns="0" bIns="0" rtlCol="0" anchor="ctr"/>
          <a:lstStyle/>
          <a:p>
            <a:pPr indent="0" marL="0">
              <a:buNone/>
            </a:pPr>
            <a:r>
              <a:rPr lang="en-US" sz="1200" b="1" dirty="0">
                <a:solidFill>
                  <a:srgbClr val="991B1B"/>
                </a:solidFill>
                <a:latin typeface="Calibri" pitchFamily="34" charset="0"/>
                <a:ea typeface="Calibri" pitchFamily="34" charset="-122"/>
                <a:cs typeface="Calibri" pitchFamily="34" charset="-120"/>
              </a:rPr>
              <a:t>What Claude Buddy Does</a:t>
            </a:r>
            <a:endParaRPr lang="en-US" sz="1200" dirty="0"/>
          </a:p>
        </p:txBody>
      </p:sp>
      <p:sp>
        <p:nvSpPr>
          <p:cNvPr id="7" name="Text 5"/>
          <p:cNvSpPr/>
          <p:nvPr/>
        </p:nvSpPr>
        <p:spPr>
          <a:xfrm>
            <a:off x="640080" y="1554480"/>
            <a:ext cx="3566160" cy="256032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18 species, 5 rarity tiers — deterministic from user ID</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Lives in terminal, watches your coding sessions</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Reacts with speech bubbles while you debug</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Stats: CHAOS, SNARK, and personality traits</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Name and personality are LLM-generated, persistent</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Requires Claude Code Pro subscription ($20/mo)</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Launched April 2026 — backed by Anthropic's resources</a:t>
            </a:r>
            <a:endParaRPr lang="en-US" sz="900" dirty="0"/>
          </a:p>
        </p:txBody>
      </p:sp>
      <p:sp>
        <p:nvSpPr>
          <p:cNvPr id="8" name="Shape 6"/>
          <p:cNvSpPr/>
          <p:nvPr/>
        </p:nvSpPr>
        <p:spPr>
          <a:xfrm>
            <a:off x="4754880" y="1005840"/>
            <a:ext cx="3931920" cy="347472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9" name="Shape 7"/>
          <p:cNvSpPr/>
          <p:nvPr/>
        </p:nvSpPr>
        <p:spPr>
          <a:xfrm>
            <a:off x="4754880" y="1005840"/>
            <a:ext cx="3931920" cy="54864"/>
          </a:xfrm>
          <a:prstGeom prst="rect">
            <a:avLst/>
          </a:prstGeom>
          <a:solidFill>
            <a:srgbClr val="16A34A"/>
          </a:solidFill>
          <a:ln/>
        </p:spPr>
      </p:sp>
      <p:sp>
        <p:nvSpPr>
          <p:cNvPr id="10" name="Text 8"/>
          <p:cNvSpPr/>
          <p:nvPr/>
        </p:nvSpPr>
        <p:spPr>
          <a:xfrm>
            <a:off x="4937760" y="1188720"/>
            <a:ext cx="3566160" cy="274320"/>
          </a:xfrm>
          <a:prstGeom prst="rect">
            <a:avLst/>
          </a:prstGeom>
          <a:noFill/>
          <a:ln/>
        </p:spPr>
        <p:txBody>
          <a:bodyPr wrap="square" lIns="0" tIns="0" rIns="0" bIns="0" rtlCol="0" anchor="ctr"/>
          <a:lstStyle/>
          <a:p>
            <a:pPr indent="0" marL="0">
              <a:buNone/>
            </a:pPr>
            <a:r>
              <a:rPr lang="en-US" sz="1200" b="1" dirty="0">
                <a:solidFill>
                  <a:srgbClr val="166534"/>
                </a:solidFill>
                <a:latin typeface="Calibri" pitchFamily="34" charset="0"/>
                <a:ea typeface="Calibri" pitchFamily="34" charset="-122"/>
                <a:cs typeface="Calibri" pitchFamily="34" charset="-120"/>
              </a:rPr>
              <a:t>Where Codepet Wins</a:t>
            </a:r>
            <a:endParaRPr lang="en-US" sz="1200" dirty="0"/>
          </a:p>
        </p:txBody>
      </p:sp>
      <p:sp>
        <p:nvSpPr>
          <p:cNvPr id="11" name="Text 9"/>
          <p:cNvSpPr/>
          <p:nvPr/>
        </p:nvSpPr>
        <p:spPr>
          <a:xfrm>
            <a:off x="4937760" y="1554480"/>
            <a:ext cx="3566160" cy="256032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Actual learning system — lessons, skill trees, kingdoms</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8 characters with personality, not random species</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Cross-product (macOS app + extension) — Buddy is terminal-only</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Structured curriculum, not just reactions to coding</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Pet care mechanics (feed, mood, energy) — deeper bond</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Economy system (hearts, coins, streaks) drives retention</a:t>
            </a:r>
            <a:endParaRPr lang="en-US" sz="900" dirty="0"/>
          </a:p>
          <a:p>
            <a:pPr marL="342900" indent="-342900">
              <a:spcAft>
                <a:spcPts val="500"/>
              </a:spcAft>
              <a:buSzPct val="100000"/>
              <a:buChar char="•"/>
            </a:pPr>
            <a:r>
              <a:rPr lang="en-US" sz="900" dirty="0">
                <a:solidFill>
                  <a:srgbClr val="1E293B"/>
                </a:solidFill>
                <a:latin typeface="Calibri" pitchFamily="34" charset="0"/>
                <a:ea typeface="Calibri" pitchFamily="34" charset="-122"/>
                <a:cs typeface="Calibri" pitchFamily="34" charset="-120"/>
              </a:rPr>
              <a:t>Visual pixel art in VS Code sidebar — not ASCII in terminal</a:t>
            </a:r>
            <a:endParaRPr lang="en-US" sz="900" dirty="0"/>
          </a:p>
        </p:txBody>
      </p:sp>
      <p:sp>
        <p:nvSpPr>
          <p:cNvPr id="12" name="Text 10"/>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000" b="1" i="1" dirty="0">
                <a:solidFill>
                  <a:srgbClr val="534AB7"/>
                </a:solidFill>
                <a:latin typeface="Calibri" pitchFamily="34" charset="0"/>
                <a:ea typeface="Calibri" pitchFamily="34" charset="-122"/>
                <a:cs typeface="Calibri" pitchFamily="34" charset="-120"/>
              </a:rPr>
              <a:t>Buddy is a novelty feature inside a larger tool. Codepet is a product built entirely around the companion concept.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C"/>
        </a:solidFill>
      </p:bgPr>
    </p:bg>
    <p:spTree>
      <p:nvGrpSpPr>
        <p:cNvPr id="1" name=""/>
        <p:cNvGrpSpPr/>
        <p:nvPr/>
      </p:nvGrpSpPr>
      <p:grpSpPr>
        <a:xfrm>
          <a:off x="0" y="0"/>
          <a:ext cx="0" cy="0"/>
          <a:chOff x="0" y="0"/>
          <a:chExt cx="0" cy="0"/>
        </a:xfrm>
      </p:grpSpPr>
      <p:sp>
        <p:nvSpPr>
          <p:cNvPr id="2" name="Text 0"/>
          <p:cNvSpPr/>
          <p:nvPr/>
        </p:nvSpPr>
        <p:spPr>
          <a:xfrm>
            <a:off x="457200" y="182880"/>
            <a:ext cx="8229600" cy="228600"/>
          </a:xfrm>
          <a:prstGeom prst="rect">
            <a:avLst/>
          </a:prstGeom>
          <a:noFill/>
          <a:ln/>
        </p:spPr>
        <p:txBody>
          <a:bodyPr wrap="square" lIns="0" tIns="0" rIns="0" bIns="0" rtlCol="0" anchor="ctr"/>
          <a:lstStyle/>
          <a:p>
            <a:pPr indent="0" marL="0">
              <a:buNone/>
            </a:pPr>
            <a:r>
              <a:rPr lang="en-US" sz="700" b="1" spc="300" kern="0" dirty="0">
                <a:solidFill>
                  <a:srgbClr val="7B6BD8"/>
                </a:solidFill>
                <a:latin typeface="Calibri" pitchFamily="34" charset="0"/>
                <a:ea typeface="Calibri" pitchFamily="34" charset="-122"/>
                <a:cs typeface="Calibri" pitchFamily="34" charset="-120"/>
              </a:rPr>
              <a:t>COMPETITIVE POSITIONING</a:t>
            </a:r>
            <a:endParaRPr lang="en-US" sz="700" dirty="0"/>
          </a:p>
        </p:txBody>
      </p:sp>
      <p:sp>
        <p:nvSpPr>
          <p:cNvPr id="3" name="Text 1"/>
          <p:cNvSpPr/>
          <p:nvPr/>
        </p:nvSpPr>
        <p:spPr>
          <a:xfrm>
            <a:off x="457200" y="411480"/>
            <a:ext cx="8229600" cy="41148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Where Codepet Sits</a:t>
            </a:r>
            <a:endParaRPr lang="en-US" sz="2200" dirty="0"/>
          </a:p>
        </p:txBody>
      </p:sp>
      <p:sp>
        <p:nvSpPr>
          <p:cNvPr id="4" name="Shape 2"/>
          <p:cNvSpPr/>
          <p:nvPr/>
        </p:nvSpPr>
        <p:spPr>
          <a:xfrm>
            <a:off x="1097280" y="1097280"/>
            <a:ext cx="3474720" cy="1737360"/>
          </a:xfrm>
          <a:prstGeom prst="rect">
            <a:avLst/>
          </a:prstGeom>
          <a:solidFill>
            <a:srgbClr val="EDE9FE"/>
          </a:solidFill>
          <a:ln/>
        </p:spPr>
      </p:sp>
      <p:sp>
        <p:nvSpPr>
          <p:cNvPr id="5" name="Shape 3"/>
          <p:cNvSpPr/>
          <p:nvPr/>
        </p:nvSpPr>
        <p:spPr>
          <a:xfrm>
            <a:off x="4572000" y="1097280"/>
            <a:ext cx="3474720" cy="1737360"/>
          </a:xfrm>
          <a:prstGeom prst="rect">
            <a:avLst/>
          </a:prstGeom>
          <a:solidFill>
            <a:srgbClr val="DCFCE7"/>
          </a:solidFill>
          <a:ln/>
        </p:spPr>
      </p:sp>
      <p:sp>
        <p:nvSpPr>
          <p:cNvPr id="6" name="Shape 4"/>
          <p:cNvSpPr/>
          <p:nvPr/>
        </p:nvSpPr>
        <p:spPr>
          <a:xfrm>
            <a:off x="1097280" y="2834640"/>
            <a:ext cx="3474720" cy="1737360"/>
          </a:xfrm>
          <a:prstGeom prst="rect">
            <a:avLst/>
          </a:prstGeom>
          <a:solidFill>
            <a:srgbClr val="F1F5F9"/>
          </a:solidFill>
          <a:ln/>
        </p:spPr>
      </p:sp>
      <p:sp>
        <p:nvSpPr>
          <p:cNvPr id="7" name="Shape 5"/>
          <p:cNvSpPr/>
          <p:nvPr/>
        </p:nvSpPr>
        <p:spPr>
          <a:xfrm>
            <a:off x="4572000" y="2834640"/>
            <a:ext cx="3474720" cy="1737360"/>
          </a:xfrm>
          <a:prstGeom prst="rect">
            <a:avLst/>
          </a:prstGeom>
          <a:solidFill>
            <a:srgbClr val="FEF3C7"/>
          </a:solidFill>
          <a:ln/>
        </p:spPr>
      </p:sp>
      <p:sp>
        <p:nvSpPr>
          <p:cNvPr id="8" name="Shape 6"/>
          <p:cNvSpPr/>
          <p:nvPr/>
        </p:nvSpPr>
        <p:spPr>
          <a:xfrm>
            <a:off x="1097280" y="2834640"/>
            <a:ext cx="6949440" cy="0"/>
          </a:xfrm>
          <a:prstGeom prst="line">
            <a:avLst/>
          </a:prstGeom>
          <a:noFill/>
          <a:ln w="12700">
            <a:solidFill>
              <a:srgbClr val="64748B"/>
            </a:solidFill>
            <a:prstDash val="solid"/>
          </a:ln>
        </p:spPr>
      </p:sp>
      <p:sp>
        <p:nvSpPr>
          <p:cNvPr id="9" name="Shape 7"/>
          <p:cNvSpPr/>
          <p:nvPr/>
        </p:nvSpPr>
        <p:spPr>
          <a:xfrm>
            <a:off x="4572000" y="1097280"/>
            <a:ext cx="0" cy="3474720"/>
          </a:xfrm>
          <a:prstGeom prst="line">
            <a:avLst/>
          </a:prstGeom>
          <a:noFill/>
          <a:ln w="12700">
            <a:solidFill>
              <a:srgbClr val="64748B"/>
            </a:solidFill>
            <a:prstDash val="solid"/>
          </a:ln>
        </p:spPr>
      </p:sp>
      <p:sp>
        <p:nvSpPr>
          <p:cNvPr id="10" name="Text 8"/>
          <p:cNvSpPr/>
          <p:nvPr/>
        </p:nvSpPr>
        <p:spPr>
          <a:xfrm>
            <a:off x="914400" y="896112"/>
            <a:ext cx="2286000" cy="182880"/>
          </a:xfrm>
          <a:prstGeom prst="rect">
            <a:avLst/>
          </a:prstGeom>
          <a:noFill/>
          <a:ln/>
        </p:spPr>
        <p:txBody>
          <a:bodyPr wrap="square" lIns="0" tIns="0" rIns="0" bIns="0" rtlCol="0" anchor="ctr"/>
          <a:lstStyle/>
          <a:p>
            <a:pPr indent="0" marL="0">
              <a:buNone/>
            </a:pPr>
            <a:r>
              <a:rPr lang="en-US" sz="700" b="1" dirty="0">
                <a:solidFill>
                  <a:srgbClr val="64748B"/>
                </a:solidFill>
                <a:latin typeface="Calibri" pitchFamily="34" charset="0"/>
                <a:ea typeface="Calibri" pitchFamily="34" charset="-122"/>
                <a:cs typeface="Calibri" pitchFamily="34" charset="-120"/>
              </a:rPr>
              <a:t>EMOTIONAL / GAMIFIED</a:t>
            </a:r>
            <a:endParaRPr lang="en-US" sz="700" dirty="0"/>
          </a:p>
        </p:txBody>
      </p:sp>
      <p:sp>
        <p:nvSpPr>
          <p:cNvPr id="11" name="Text 9"/>
          <p:cNvSpPr/>
          <p:nvPr/>
        </p:nvSpPr>
        <p:spPr>
          <a:xfrm>
            <a:off x="914400" y="4617720"/>
            <a:ext cx="2286000" cy="182880"/>
          </a:xfrm>
          <a:prstGeom prst="rect">
            <a:avLst/>
          </a:prstGeom>
          <a:noFill/>
          <a:ln/>
        </p:spPr>
        <p:txBody>
          <a:bodyPr wrap="square" lIns="0" tIns="0" rIns="0" bIns="0" rtlCol="0" anchor="ctr"/>
          <a:lstStyle/>
          <a:p>
            <a:pPr indent="0" marL="0">
              <a:buNone/>
            </a:pPr>
            <a:r>
              <a:rPr lang="en-US" sz="700" b="1" dirty="0">
                <a:solidFill>
                  <a:srgbClr val="64748B"/>
                </a:solidFill>
                <a:latin typeface="Calibri" pitchFamily="34" charset="0"/>
                <a:ea typeface="Calibri" pitchFamily="34" charset="-122"/>
                <a:cs typeface="Calibri" pitchFamily="34" charset="-120"/>
              </a:rPr>
              <a:t>PRODUCTIVITY / TOOL</a:t>
            </a:r>
            <a:endParaRPr lang="en-US" sz="700" dirty="0"/>
          </a:p>
        </p:txBody>
      </p:sp>
      <p:sp>
        <p:nvSpPr>
          <p:cNvPr id="12" name="Text 10"/>
          <p:cNvSpPr/>
          <p:nvPr/>
        </p:nvSpPr>
        <p:spPr>
          <a:xfrm>
            <a:off x="6949440" y="2880360"/>
            <a:ext cx="1097280" cy="182880"/>
          </a:xfrm>
          <a:prstGeom prst="rect">
            <a:avLst/>
          </a:prstGeom>
          <a:noFill/>
          <a:ln/>
        </p:spPr>
        <p:txBody>
          <a:bodyPr wrap="square" lIns="0" tIns="0" rIns="0" bIns="0" rtlCol="0" anchor="ctr"/>
          <a:lstStyle/>
          <a:p>
            <a:pPr algn="r" indent="0" marL="0">
              <a:buNone/>
            </a:pPr>
            <a:r>
              <a:rPr lang="en-US" sz="700" b="1" dirty="0">
                <a:solidFill>
                  <a:srgbClr val="64748B"/>
                </a:solidFill>
                <a:latin typeface="Calibri" pitchFamily="34" charset="0"/>
                <a:ea typeface="Calibri" pitchFamily="34" charset="-122"/>
                <a:cs typeface="Calibri" pitchFamily="34" charset="-120"/>
              </a:rPr>
              <a:t>LEARNING →</a:t>
            </a:r>
            <a:endParaRPr lang="en-US" sz="700" dirty="0"/>
          </a:p>
        </p:txBody>
      </p:sp>
      <p:sp>
        <p:nvSpPr>
          <p:cNvPr id="13" name="Text 11"/>
          <p:cNvSpPr/>
          <p:nvPr/>
        </p:nvSpPr>
        <p:spPr>
          <a:xfrm>
            <a:off x="1097280" y="2880360"/>
            <a:ext cx="1097280" cy="182880"/>
          </a:xfrm>
          <a:prstGeom prst="rect">
            <a:avLst/>
          </a:prstGeom>
          <a:noFill/>
          <a:ln/>
        </p:spPr>
        <p:txBody>
          <a:bodyPr wrap="square" lIns="0" tIns="0" rIns="0" bIns="0" rtlCol="0" anchor="ctr"/>
          <a:lstStyle/>
          <a:p>
            <a:pPr indent="0" marL="0">
              <a:buNone/>
            </a:pPr>
            <a:r>
              <a:rPr lang="en-US" sz="700" b="1" dirty="0">
                <a:solidFill>
                  <a:srgbClr val="64748B"/>
                </a:solidFill>
                <a:latin typeface="Calibri" pitchFamily="34" charset="0"/>
                <a:ea typeface="Calibri" pitchFamily="34" charset="-122"/>
                <a:cs typeface="Calibri" pitchFamily="34" charset="-120"/>
              </a:rPr>
              <a:t>← BUILDING</a:t>
            </a:r>
            <a:endParaRPr lang="en-US" sz="700" dirty="0"/>
          </a:p>
        </p:txBody>
      </p:sp>
      <p:sp>
        <p:nvSpPr>
          <p:cNvPr id="14" name="Shape 12"/>
          <p:cNvSpPr/>
          <p:nvPr/>
        </p:nvSpPr>
        <p:spPr>
          <a:xfrm>
            <a:off x="5897880" y="1658722"/>
            <a:ext cx="128016" cy="128016"/>
          </a:xfrm>
          <a:prstGeom prst="ellipse">
            <a:avLst/>
          </a:prstGeom>
          <a:solidFill>
            <a:srgbClr val="0D9488"/>
          </a:solidFill>
          <a:ln/>
        </p:spPr>
      </p:sp>
      <p:sp>
        <p:nvSpPr>
          <p:cNvPr id="15" name="Text 13"/>
          <p:cNvSpPr/>
          <p:nvPr/>
        </p:nvSpPr>
        <p:spPr>
          <a:xfrm>
            <a:off x="6053328" y="1631290"/>
            <a:ext cx="1097280" cy="182880"/>
          </a:xfrm>
          <a:prstGeom prst="rect">
            <a:avLst/>
          </a:prstGeom>
          <a:noFill/>
          <a:ln/>
        </p:spPr>
        <p:txBody>
          <a:bodyPr wrap="square" lIns="0" tIns="0" rIns="0" bIns="0" rtlCol="0" anchor="ctr"/>
          <a:lstStyle/>
          <a:p>
            <a:pPr indent="0" marL="0">
              <a:buNone/>
            </a:pPr>
            <a:r>
              <a:rPr lang="en-US" sz="650" dirty="0">
                <a:solidFill>
                  <a:srgbClr val="0D9488"/>
                </a:solidFill>
                <a:latin typeface="Calibri" pitchFamily="34" charset="0"/>
                <a:ea typeface="Calibri" pitchFamily="34" charset="-122"/>
                <a:cs typeface="Calibri" pitchFamily="34" charset="-120"/>
              </a:rPr>
              <a:t>Mimo</a:t>
            </a:r>
            <a:endParaRPr lang="en-US" sz="650" dirty="0"/>
          </a:p>
        </p:txBody>
      </p:sp>
      <p:sp>
        <p:nvSpPr>
          <p:cNvPr id="16" name="Shape 14"/>
          <p:cNvSpPr/>
          <p:nvPr/>
        </p:nvSpPr>
        <p:spPr>
          <a:xfrm>
            <a:off x="6592824" y="1901952"/>
            <a:ext cx="128016" cy="128016"/>
          </a:xfrm>
          <a:prstGeom prst="ellipse">
            <a:avLst/>
          </a:prstGeom>
          <a:solidFill>
            <a:srgbClr val="0D9488"/>
          </a:solidFill>
          <a:ln/>
        </p:spPr>
      </p:sp>
      <p:sp>
        <p:nvSpPr>
          <p:cNvPr id="17" name="Text 15"/>
          <p:cNvSpPr/>
          <p:nvPr/>
        </p:nvSpPr>
        <p:spPr>
          <a:xfrm>
            <a:off x="6748272" y="1874520"/>
            <a:ext cx="1097280" cy="182880"/>
          </a:xfrm>
          <a:prstGeom prst="rect">
            <a:avLst/>
          </a:prstGeom>
          <a:noFill/>
          <a:ln/>
        </p:spPr>
        <p:txBody>
          <a:bodyPr wrap="square" lIns="0" tIns="0" rIns="0" bIns="0" rtlCol="0" anchor="ctr"/>
          <a:lstStyle/>
          <a:p>
            <a:pPr indent="0" marL="0">
              <a:buNone/>
            </a:pPr>
            <a:r>
              <a:rPr lang="en-US" sz="650" dirty="0">
                <a:solidFill>
                  <a:srgbClr val="0D9488"/>
                </a:solidFill>
                <a:latin typeface="Calibri" pitchFamily="34" charset="0"/>
                <a:ea typeface="Calibri" pitchFamily="34" charset="-122"/>
                <a:cs typeface="Calibri" pitchFamily="34" charset="-120"/>
              </a:rPr>
              <a:t>Sololearn</a:t>
            </a:r>
            <a:endParaRPr lang="en-US" sz="650" dirty="0"/>
          </a:p>
        </p:txBody>
      </p:sp>
      <p:sp>
        <p:nvSpPr>
          <p:cNvPr id="18" name="Shape 16"/>
          <p:cNvSpPr/>
          <p:nvPr/>
        </p:nvSpPr>
        <p:spPr>
          <a:xfrm>
            <a:off x="5550408" y="2075688"/>
            <a:ext cx="128016" cy="128016"/>
          </a:xfrm>
          <a:prstGeom prst="ellipse">
            <a:avLst/>
          </a:prstGeom>
          <a:solidFill>
            <a:srgbClr val="0D9488"/>
          </a:solidFill>
          <a:ln/>
        </p:spPr>
      </p:sp>
      <p:sp>
        <p:nvSpPr>
          <p:cNvPr id="19" name="Text 17"/>
          <p:cNvSpPr/>
          <p:nvPr/>
        </p:nvSpPr>
        <p:spPr>
          <a:xfrm>
            <a:off x="5705856" y="2048256"/>
            <a:ext cx="1097280" cy="182880"/>
          </a:xfrm>
          <a:prstGeom prst="rect">
            <a:avLst/>
          </a:prstGeom>
          <a:noFill/>
          <a:ln/>
        </p:spPr>
        <p:txBody>
          <a:bodyPr wrap="square" lIns="0" tIns="0" rIns="0" bIns="0" rtlCol="0" anchor="ctr"/>
          <a:lstStyle/>
          <a:p>
            <a:pPr indent="0" marL="0">
              <a:buNone/>
            </a:pPr>
            <a:r>
              <a:rPr lang="en-US" sz="650" dirty="0">
                <a:solidFill>
                  <a:srgbClr val="0D9488"/>
                </a:solidFill>
                <a:latin typeface="Calibri" pitchFamily="34" charset="0"/>
                <a:ea typeface="Calibri" pitchFamily="34" charset="-122"/>
                <a:cs typeface="Calibri" pitchFamily="34" charset="-120"/>
              </a:rPr>
              <a:t>Grasshopper</a:t>
            </a:r>
            <a:endParaRPr lang="en-US" sz="650" dirty="0"/>
          </a:p>
        </p:txBody>
      </p:sp>
      <p:sp>
        <p:nvSpPr>
          <p:cNvPr id="20" name="Shape 18"/>
          <p:cNvSpPr/>
          <p:nvPr/>
        </p:nvSpPr>
        <p:spPr>
          <a:xfrm>
            <a:off x="6940296" y="1554480"/>
            <a:ext cx="128016" cy="128016"/>
          </a:xfrm>
          <a:prstGeom prst="ellipse">
            <a:avLst/>
          </a:prstGeom>
          <a:solidFill>
            <a:srgbClr val="0891B2"/>
          </a:solidFill>
          <a:ln/>
        </p:spPr>
      </p:sp>
      <p:sp>
        <p:nvSpPr>
          <p:cNvPr id="21" name="Text 19"/>
          <p:cNvSpPr/>
          <p:nvPr/>
        </p:nvSpPr>
        <p:spPr>
          <a:xfrm>
            <a:off x="7095744" y="1527048"/>
            <a:ext cx="1097280" cy="182880"/>
          </a:xfrm>
          <a:prstGeom prst="rect">
            <a:avLst/>
          </a:prstGeom>
          <a:noFill/>
          <a:ln/>
        </p:spPr>
        <p:txBody>
          <a:bodyPr wrap="square" lIns="0" tIns="0" rIns="0" bIns="0" rtlCol="0" anchor="ctr"/>
          <a:lstStyle/>
          <a:p>
            <a:pPr indent="0" marL="0">
              <a:buNone/>
            </a:pPr>
            <a:r>
              <a:rPr lang="en-US" sz="650" dirty="0">
                <a:solidFill>
                  <a:srgbClr val="0891B2"/>
                </a:solidFill>
                <a:latin typeface="Calibri" pitchFamily="34" charset="0"/>
                <a:ea typeface="Calibri" pitchFamily="34" charset="-122"/>
                <a:cs typeface="Calibri" pitchFamily="34" charset="-120"/>
              </a:rPr>
              <a:t>CodenQuest</a:t>
            </a:r>
            <a:endParaRPr lang="en-US" sz="650" dirty="0"/>
          </a:p>
        </p:txBody>
      </p:sp>
      <p:sp>
        <p:nvSpPr>
          <p:cNvPr id="22" name="Shape 20"/>
          <p:cNvSpPr/>
          <p:nvPr/>
        </p:nvSpPr>
        <p:spPr>
          <a:xfrm>
            <a:off x="4855464" y="2944368"/>
            <a:ext cx="128016" cy="128016"/>
          </a:xfrm>
          <a:prstGeom prst="ellipse">
            <a:avLst/>
          </a:prstGeom>
          <a:solidFill>
            <a:srgbClr val="D97706"/>
          </a:solidFill>
          <a:ln/>
        </p:spPr>
      </p:sp>
      <p:sp>
        <p:nvSpPr>
          <p:cNvPr id="23" name="Text 21"/>
          <p:cNvSpPr/>
          <p:nvPr/>
        </p:nvSpPr>
        <p:spPr>
          <a:xfrm>
            <a:off x="5010912" y="2916936"/>
            <a:ext cx="1097280" cy="182880"/>
          </a:xfrm>
          <a:prstGeom prst="rect">
            <a:avLst/>
          </a:prstGeom>
          <a:noFill/>
          <a:ln/>
        </p:spPr>
        <p:txBody>
          <a:bodyPr wrap="square" lIns="0" tIns="0" rIns="0" bIns="0" rtlCol="0" anchor="ctr"/>
          <a:lstStyle/>
          <a:p>
            <a:pPr indent="0" marL="0">
              <a:buNone/>
            </a:pPr>
            <a:r>
              <a:rPr lang="en-US" sz="650" dirty="0">
                <a:solidFill>
                  <a:srgbClr val="D97706"/>
                </a:solidFill>
                <a:latin typeface="Calibri" pitchFamily="34" charset="0"/>
                <a:ea typeface="Calibri" pitchFamily="34" charset="-122"/>
                <a:cs typeface="Calibri" pitchFamily="34" charset="-120"/>
              </a:rPr>
              <a:t>Codecademy</a:t>
            </a:r>
            <a:endParaRPr lang="en-US" sz="650" dirty="0"/>
          </a:p>
        </p:txBody>
      </p:sp>
      <p:sp>
        <p:nvSpPr>
          <p:cNvPr id="24" name="Shape 22"/>
          <p:cNvSpPr/>
          <p:nvPr/>
        </p:nvSpPr>
        <p:spPr>
          <a:xfrm>
            <a:off x="2075688" y="3639312"/>
            <a:ext cx="128016" cy="128016"/>
          </a:xfrm>
          <a:prstGeom prst="ellipse">
            <a:avLst/>
          </a:prstGeom>
          <a:solidFill>
            <a:srgbClr val="64748B"/>
          </a:solidFill>
          <a:ln/>
        </p:spPr>
      </p:sp>
      <p:sp>
        <p:nvSpPr>
          <p:cNvPr id="25" name="Text 23"/>
          <p:cNvSpPr/>
          <p:nvPr/>
        </p:nvSpPr>
        <p:spPr>
          <a:xfrm>
            <a:off x="2231136" y="3611880"/>
            <a:ext cx="1097280" cy="182880"/>
          </a:xfrm>
          <a:prstGeom prst="rect">
            <a:avLst/>
          </a:prstGeom>
          <a:noFill/>
          <a:ln/>
        </p:spPr>
        <p:txBody>
          <a:bodyPr wrap="square" lIns="0" tIns="0" rIns="0" bIns="0" rtlCol="0" anchor="ctr"/>
          <a:lstStyle/>
          <a:p>
            <a:pPr indent="0" marL="0">
              <a:buNone/>
            </a:pPr>
            <a:r>
              <a:rPr lang="en-US" sz="650" dirty="0">
                <a:solidFill>
                  <a:srgbClr val="64748B"/>
                </a:solidFill>
                <a:latin typeface="Calibri" pitchFamily="34" charset="0"/>
                <a:ea typeface="Calibri" pitchFamily="34" charset="-122"/>
                <a:cs typeface="Calibri" pitchFamily="34" charset="-120"/>
              </a:rPr>
              <a:t>Copilot</a:t>
            </a:r>
            <a:endParaRPr lang="en-US" sz="650" dirty="0"/>
          </a:p>
        </p:txBody>
      </p:sp>
      <p:sp>
        <p:nvSpPr>
          <p:cNvPr id="26" name="Shape 24"/>
          <p:cNvSpPr/>
          <p:nvPr/>
        </p:nvSpPr>
        <p:spPr>
          <a:xfrm>
            <a:off x="1728216" y="3986784"/>
            <a:ext cx="128016" cy="128016"/>
          </a:xfrm>
          <a:prstGeom prst="ellipse">
            <a:avLst/>
          </a:prstGeom>
          <a:solidFill>
            <a:srgbClr val="64748B"/>
          </a:solidFill>
          <a:ln/>
        </p:spPr>
      </p:sp>
      <p:sp>
        <p:nvSpPr>
          <p:cNvPr id="27" name="Text 25"/>
          <p:cNvSpPr/>
          <p:nvPr/>
        </p:nvSpPr>
        <p:spPr>
          <a:xfrm>
            <a:off x="1883664" y="3959352"/>
            <a:ext cx="1097280" cy="182880"/>
          </a:xfrm>
          <a:prstGeom prst="rect">
            <a:avLst/>
          </a:prstGeom>
          <a:noFill/>
          <a:ln/>
        </p:spPr>
        <p:txBody>
          <a:bodyPr wrap="square" lIns="0" tIns="0" rIns="0" bIns="0" rtlCol="0" anchor="ctr"/>
          <a:lstStyle/>
          <a:p>
            <a:pPr indent="0" marL="0">
              <a:buNone/>
            </a:pPr>
            <a:r>
              <a:rPr lang="en-US" sz="650" dirty="0">
                <a:solidFill>
                  <a:srgbClr val="64748B"/>
                </a:solidFill>
                <a:latin typeface="Calibri" pitchFamily="34" charset="0"/>
                <a:ea typeface="Calibri" pitchFamily="34" charset="-122"/>
                <a:cs typeface="Calibri" pitchFamily="34" charset="-120"/>
              </a:rPr>
              <a:t>Cursor</a:t>
            </a:r>
            <a:endParaRPr lang="en-US" sz="650" dirty="0"/>
          </a:p>
        </p:txBody>
      </p:sp>
      <p:sp>
        <p:nvSpPr>
          <p:cNvPr id="28" name="Shape 26"/>
          <p:cNvSpPr/>
          <p:nvPr/>
        </p:nvSpPr>
        <p:spPr>
          <a:xfrm>
            <a:off x="2770632" y="2423160"/>
            <a:ext cx="128016" cy="128016"/>
          </a:xfrm>
          <a:prstGeom prst="ellipse">
            <a:avLst/>
          </a:prstGeom>
          <a:solidFill>
            <a:srgbClr val="DC2626"/>
          </a:solidFill>
          <a:ln/>
        </p:spPr>
      </p:sp>
      <p:sp>
        <p:nvSpPr>
          <p:cNvPr id="29" name="Text 27"/>
          <p:cNvSpPr/>
          <p:nvPr/>
        </p:nvSpPr>
        <p:spPr>
          <a:xfrm>
            <a:off x="2926080" y="2395728"/>
            <a:ext cx="1097280" cy="182880"/>
          </a:xfrm>
          <a:prstGeom prst="rect">
            <a:avLst/>
          </a:prstGeom>
          <a:noFill/>
          <a:ln/>
        </p:spPr>
        <p:txBody>
          <a:bodyPr wrap="square" lIns="0" tIns="0" rIns="0" bIns="0" rtlCol="0" anchor="ctr"/>
          <a:lstStyle/>
          <a:p>
            <a:pPr indent="0" marL="0">
              <a:buNone/>
            </a:pPr>
            <a:r>
              <a:rPr lang="en-US" sz="650" dirty="0">
                <a:solidFill>
                  <a:srgbClr val="DC2626"/>
                </a:solidFill>
                <a:latin typeface="Calibri" pitchFamily="34" charset="0"/>
                <a:ea typeface="Calibri" pitchFamily="34" charset="-122"/>
                <a:cs typeface="Calibri" pitchFamily="34" charset="-120"/>
              </a:rPr>
              <a:t>Claude Buddy</a:t>
            </a:r>
            <a:endParaRPr lang="en-US" sz="650" dirty="0"/>
          </a:p>
        </p:txBody>
      </p:sp>
      <p:sp>
        <p:nvSpPr>
          <p:cNvPr id="30" name="Shape 28"/>
          <p:cNvSpPr/>
          <p:nvPr/>
        </p:nvSpPr>
        <p:spPr>
          <a:xfrm>
            <a:off x="6245352" y="3048610"/>
            <a:ext cx="128016" cy="128016"/>
          </a:xfrm>
          <a:prstGeom prst="ellipse">
            <a:avLst/>
          </a:prstGeom>
          <a:solidFill>
            <a:srgbClr val="D97706"/>
          </a:solidFill>
          <a:ln/>
        </p:spPr>
      </p:sp>
      <p:sp>
        <p:nvSpPr>
          <p:cNvPr id="31" name="Text 29"/>
          <p:cNvSpPr/>
          <p:nvPr/>
        </p:nvSpPr>
        <p:spPr>
          <a:xfrm>
            <a:off x="6400800" y="3021178"/>
            <a:ext cx="1097280" cy="182880"/>
          </a:xfrm>
          <a:prstGeom prst="rect">
            <a:avLst/>
          </a:prstGeom>
          <a:noFill/>
          <a:ln/>
        </p:spPr>
        <p:txBody>
          <a:bodyPr wrap="square" lIns="0" tIns="0" rIns="0" bIns="0" rtlCol="0" anchor="ctr"/>
          <a:lstStyle/>
          <a:p>
            <a:pPr indent="0" marL="0">
              <a:buNone/>
            </a:pPr>
            <a:r>
              <a:rPr lang="en-US" sz="650" dirty="0">
                <a:solidFill>
                  <a:srgbClr val="D97706"/>
                </a:solidFill>
                <a:latin typeface="Calibri" pitchFamily="34" charset="0"/>
                <a:ea typeface="Calibri" pitchFamily="34" charset="-122"/>
                <a:cs typeface="Calibri" pitchFamily="34" charset="-120"/>
              </a:rPr>
              <a:t>Enki</a:t>
            </a:r>
            <a:endParaRPr lang="en-US" sz="650" dirty="0"/>
          </a:p>
        </p:txBody>
      </p:sp>
      <p:sp>
        <p:nvSpPr>
          <p:cNvPr id="32" name="Shape 30"/>
          <p:cNvSpPr/>
          <p:nvPr/>
        </p:nvSpPr>
        <p:spPr>
          <a:xfrm>
            <a:off x="4123944" y="1761134"/>
            <a:ext cx="201168" cy="201168"/>
          </a:xfrm>
          <a:prstGeom prst="ellipse">
            <a:avLst/>
          </a:prstGeom>
          <a:solidFill>
            <a:srgbClr val="534AB7"/>
          </a:solidFill>
          <a:ln/>
        </p:spPr>
      </p:sp>
      <p:sp>
        <p:nvSpPr>
          <p:cNvPr id="33" name="Text 31"/>
          <p:cNvSpPr/>
          <p:nvPr/>
        </p:nvSpPr>
        <p:spPr>
          <a:xfrm>
            <a:off x="4352544" y="1770278"/>
            <a:ext cx="1097280" cy="182880"/>
          </a:xfrm>
          <a:prstGeom prst="rect">
            <a:avLst/>
          </a:prstGeom>
          <a:noFill/>
          <a:ln/>
        </p:spPr>
        <p:txBody>
          <a:bodyPr wrap="square" lIns="0" tIns="0" rIns="0" bIns="0" rtlCol="0" anchor="ctr"/>
          <a:lstStyle/>
          <a:p>
            <a:pPr indent="0" marL="0">
              <a:buNone/>
            </a:pPr>
            <a:r>
              <a:rPr lang="en-US" sz="800" b="1" dirty="0">
                <a:solidFill>
                  <a:srgbClr val="534AB7"/>
                </a:solidFill>
                <a:latin typeface="Calibri" pitchFamily="34" charset="0"/>
                <a:ea typeface="Calibri" pitchFamily="34" charset="-122"/>
                <a:cs typeface="Calibri" pitchFamily="34" charset="-120"/>
              </a:rPr>
              <a:t>CODEPET</a:t>
            </a:r>
            <a:endParaRPr lang="en-US" sz="800" dirty="0"/>
          </a:p>
        </p:txBody>
      </p:sp>
      <p:sp>
        <p:nvSpPr>
          <p:cNvPr id="34" name="Text 32"/>
          <p:cNvSpPr/>
          <p:nvPr/>
        </p:nvSpPr>
        <p:spPr>
          <a:xfrm>
            <a:off x="1188720" y="1143000"/>
            <a:ext cx="1371600" cy="365760"/>
          </a:xfrm>
          <a:prstGeom prst="rect">
            <a:avLst/>
          </a:prstGeom>
          <a:noFill/>
          <a:ln/>
        </p:spPr>
        <p:txBody>
          <a:bodyPr wrap="square" lIns="0" tIns="0" rIns="0" bIns="0" rtlCol="0" anchor="ctr"/>
          <a:lstStyle/>
          <a:p>
            <a:pPr indent="0" marL="0">
              <a:buNone/>
            </a:pPr>
            <a:r>
              <a:rPr lang="en-US" sz="800" b="1" i="1" dirty="0">
                <a:solidFill>
                  <a:srgbClr val="534AB7"/>
                </a:solidFill>
                <a:latin typeface="Calibri" pitchFamily="34" charset="0"/>
                <a:ea typeface="Calibri" pitchFamily="34" charset="-122"/>
                <a:cs typeface="Calibri" pitchFamily="34" charset="-120"/>
              </a:rPr>
              <a:t>Emotional</a:t>
            </a:r>
            <a:endParaRPr lang="en-US" sz="800" dirty="0"/>
          </a:p>
          <a:p>
            <a:pPr indent="0" marL="0">
              <a:buNone/>
            </a:pPr>
            <a:r>
              <a:rPr lang="en-US" sz="800" b="1" i="1" dirty="0">
                <a:solidFill>
                  <a:srgbClr val="534AB7"/>
                </a:solidFill>
                <a:latin typeface="Calibri" pitchFamily="34" charset="0"/>
                <a:ea typeface="Calibri" pitchFamily="34" charset="-122"/>
                <a:cs typeface="Calibri" pitchFamily="34" charset="-120"/>
              </a:rPr>
              <a:t>Learning</a:t>
            </a:r>
            <a:endParaRPr lang="en-US" sz="800" dirty="0"/>
          </a:p>
        </p:txBody>
      </p:sp>
      <p:sp>
        <p:nvSpPr>
          <p:cNvPr id="35" name="Text 33"/>
          <p:cNvSpPr/>
          <p:nvPr/>
        </p:nvSpPr>
        <p:spPr>
          <a:xfrm>
            <a:off x="4663440" y="1143000"/>
            <a:ext cx="1371600" cy="365760"/>
          </a:xfrm>
          <a:prstGeom prst="rect">
            <a:avLst/>
          </a:prstGeom>
          <a:noFill/>
          <a:ln/>
        </p:spPr>
        <p:txBody>
          <a:bodyPr wrap="square" lIns="0" tIns="0" rIns="0" bIns="0" rtlCol="0" anchor="ctr"/>
          <a:lstStyle/>
          <a:p>
            <a:pPr indent="0" marL="0">
              <a:buNone/>
            </a:pPr>
            <a:r>
              <a:rPr lang="en-US" sz="800" b="1" i="1" dirty="0">
                <a:solidFill>
                  <a:srgbClr val="166534"/>
                </a:solidFill>
                <a:latin typeface="Calibri" pitchFamily="34" charset="0"/>
                <a:ea typeface="Calibri" pitchFamily="34" charset="-122"/>
                <a:cs typeface="Calibri" pitchFamily="34" charset="-120"/>
              </a:rPr>
              <a:t>Structured</a:t>
            </a:r>
            <a:endParaRPr lang="en-US" sz="800" dirty="0"/>
          </a:p>
          <a:p>
            <a:pPr indent="0" marL="0">
              <a:buNone/>
            </a:pPr>
            <a:r>
              <a:rPr lang="en-US" sz="800" b="1" i="1" dirty="0">
                <a:solidFill>
                  <a:srgbClr val="166534"/>
                </a:solidFill>
                <a:latin typeface="Calibri" pitchFamily="34" charset="0"/>
                <a:ea typeface="Calibri" pitchFamily="34" charset="-122"/>
                <a:cs typeface="Calibri" pitchFamily="34" charset="-120"/>
              </a:rPr>
              <a:t>Learning</a:t>
            </a:r>
            <a:endParaRPr lang="en-US" sz="800" dirty="0"/>
          </a:p>
        </p:txBody>
      </p:sp>
      <p:sp>
        <p:nvSpPr>
          <p:cNvPr id="36" name="Text 34"/>
          <p:cNvSpPr/>
          <p:nvPr/>
        </p:nvSpPr>
        <p:spPr>
          <a:xfrm>
            <a:off x="1188720" y="4297680"/>
            <a:ext cx="1371600" cy="182880"/>
          </a:xfrm>
          <a:prstGeom prst="rect">
            <a:avLst/>
          </a:prstGeom>
          <a:noFill/>
          <a:ln/>
        </p:spPr>
        <p:txBody>
          <a:bodyPr wrap="square" lIns="0" tIns="0" rIns="0" bIns="0" rtlCol="0" anchor="ctr"/>
          <a:lstStyle/>
          <a:p>
            <a:pPr indent="0" marL="0">
              <a:buNone/>
            </a:pPr>
            <a:r>
              <a:rPr lang="en-US" sz="800" b="1" i="1" dirty="0">
                <a:solidFill>
                  <a:srgbClr val="64748B"/>
                </a:solidFill>
                <a:latin typeface="Calibri" pitchFamily="34" charset="0"/>
                <a:ea typeface="Calibri" pitchFamily="34" charset="-122"/>
                <a:cs typeface="Calibri" pitchFamily="34" charset="-120"/>
              </a:rPr>
              <a:t>Pure Productivity</a:t>
            </a:r>
            <a:endParaRPr lang="en-US" sz="800" dirty="0"/>
          </a:p>
        </p:txBody>
      </p:sp>
      <p:sp>
        <p:nvSpPr>
          <p:cNvPr id="37" name="Text 35"/>
          <p:cNvSpPr/>
          <p:nvPr/>
        </p:nvSpPr>
        <p:spPr>
          <a:xfrm>
            <a:off x="4663440" y="4206240"/>
            <a:ext cx="1371600" cy="365760"/>
          </a:xfrm>
          <a:prstGeom prst="rect">
            <a:avLst/>
          </a:prstGeom>
          <a:noFill/>
          <a:ln/>
        </p:spPr>
        <p:txBody>
          <a:bodyPr wrap="square" lIns="0" tIns="0" rIns="0" bIns="0" rtlCol="0" anchor="ctr"/>
          <a:lstStyle/>
          <a:p>
            <a:pPr indent="0" marL="0">
              <a:buNone/>
            </a:pPr>
            <a:r>
              <a:rPr lang="en-US" sz="800" b="1" i="1" dirty="0">
                <a:solidFill>
                  <a:srgbClr val="D97706"/>
                </a:solidFill>
                <a:latin typeface="Calibri" pitchFamily="34" charset="0"/>
                <a:ea typeface="Calibri" pitchFamily="34" charset="-122"/>
                <a:cs typeface="Calibri" pitchFamily="34" charset="-120"/>
              </a:rPr>
              <a:t>Guided</a:t>
            </a:r>
            <a:endParaRPr lang="en-US" sz="800" dirty="0"/>
          </a:p>
          <a:p>
            <a:pPr indent="0" marL="0">
              <a:buNone/>
            </a:pPr>
            <a:r>
              <a:rPr lang="en-US" sz="800" b="1" i="1" dirty="0">
                <a:solidFill>
                  <a:srgbClr val="D97706"/>
                </a:solidFill>
                <a:latin typeface="Calibri" pitchFamily="34" charset="0"/>
                <a:ea typeface="Calibri" pitchFamily="34" charset="-122"/>
                <a:cs typeface="Calibri" pitchFamily="34" charset="-120"/>
              </a:rPr>
              <a:t>Practice</a:t>
            </a:r>
            <a:endParaRPr lang="en-US" sz="800" dirty="0"/>
          </a:p>
        </p:txBody>
      </p:sp>
      <p:sp>
        <p:nvSpPr>
          <p:cNvPr id="38" name="Text 36"/>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950" b="1" i="1" dirty="0">
                <a:solidFill>
                  <a:srgbClr val="534AB7"/>
                </a:solidFill>
                <a:latin typeface="Calibri" pitchFamily="34" charset="0"/>
                <a:ea typeface="Calibri" pitchFamily="34" charset="-122"/>
                <a:cs typeface="Calibri" pitchFamily="34" charset="-120"/>
              </a:rPr>
              <a:t>Codepet uniquely bridges emotional engagement (pet companion) with real coding education — a quadrant nobody else owns.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C"/>
        </a:solidFill>
      </p:bgPr>
    </p:bg>
    <p:spTree>
      <p:nvGrpSpPr>
        <p:cNvPr id="1" name=""/>
        <p:cNvGrpSpPr/>
        <p:nvPr/>
      </p:nvGrpSpPr>
      <p:grpSpPr>
        <a:xfrm>
          <a:off x="0" y="0"/>
          <a:ext cx="0" cy="0"/>
          <a:chOff x="0" y="0"/>
          <a:chExt cx="0" cy="0"/>
        </a:xfrm>
      </p:grpSpPr>
      <p:sp>
        <p:nvSpPr>
          <p:cNvPr id="2" name="Text 0"/>
          <p:cNvSpPr/>
          <p:nvPr/>
        </p:nvSpPr>
        <p:spPr>
          <a:xfrm>
            <a:off x="457200" y="137160"/>
            <a:ext cx="8229600" cy="228600"/>
          </a:xfrm>
          <a:prstGeom prst="rect">
            <a:avLst/>
          </a:prstGeom>
          <a:noFill/>
          <a:ln/>
        </p:spPr>
        <p:txBody>
          <a:bodyPr wrap="square" lIns="0" tIns="0" rIns="0" bIns="0" rtlCol="0" anchor="ctr"/>
          <a:lstStyle/>
          <a:p>
            <a:pPr indent="0" marL="0">
              <a:buNone/>
            </a:pPr>
            <a:r>
              <a:rPr lang="en-US" sz="700" b="1" spc="300" kern="0" dirty="0">
                <a:solidFill>
                  <a:srgbClr val="7B6BD8"/>
                </a:solidFill>
                <a:latin typeface="Calibri" pitchFamily="34" charset="0"/>
                <a:ea typeface="Calibri" pitchFamily="34" charset="-122"/>
                <a:cs typeface="Calibri" pitchFamily="34" charset="-120"/>
              </a:rPr>
              <a:t>SWOT ANALYSIS</a:t>
            </a:r>
            <a:endParaRPr lang="en-US" sz="700" dirty="0"/>
          </a:p>
        </p:txBody>
      </p:sp>
      <p:sp>
        <p:nvSpPr>
          <p:cNvPr id="3" name="Text 1"/>
          <p:cNvSpPr/>
          <p:nvPr/>
        </p:nvSpPr>
        <p:spPr>
          <a:xfrm>
            <a:off x="457200" y="320040"/>
            <a:ext cx="8229600" cy="36576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Codepet Strengths, Weaknesses, Opportunities, Threats</a:t>
            </a:r>
            <a:endParaRPr lang="en-US" sz="1800" dirty="0"/>
          </a:p>
        </p:txBody>
      </p:sp>
      <p:sp>
        <p:nvSpPr>
          <p:cNvPr id="4" name="Shape 2"/>
          <p:cNvSpPr/>
          <p:nvPr/>
        </p:nvSpPr>
        <p:spPr>
          <a:xfrm>
            <a:off x="457200" y="822960"/>
            <a:ext cx="3977640" cy="192024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5" name="Shape 3"/>
          <p:cNvSpPr/>
          <p:nvPr/>
        </p:nvSpPr>
        <p:spPr>
          <a:xfrm>
            <a:off x="457200" y="822960"/>
            <a:ext cx="3977640" cy="54864"/>
          </a:xfrm>
          <a:prstGeom prst="rect">
            <a:avLst/>
          </a:prstGeom>
          <a:solidFill>
            <a:srgbClr val="16A34A"/>
          </a:solidFill>
          <a:ln/>
        </p:spPr>
      </p:sp>
      <p:sp>
        <p:nvSpPr>
          <p:cNvPr id="6" name="Text 4"/>
          <p:cNvSpPr/>
          <p:nvPr/>
        </p:nvSpPr>
        <p:spPr>
          <a:xfrm>
            <a:off x="594360" y="960120"/>
            <a:ext cx="3703320" cy="228600"/>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STRENGTHS</a:t>
            </a:r>
            <a:endParaRPr lang="en-US" sz="1000" dirty="0"/>
          </a:p>
        </p:txBody>
      </p:sp>
      <p:sp>
        <p:nvSpPr>
          <p:cNvPr id="7" name="Text 5"/>
          <p:cNvSpPr/>
          <p:nvPr/>
        </p:nvSpPr>
        <p:spPr>
          <a:xfrm>
            <a:off x="594360" y="1234440"/>
            <a:ext cx="3703320" cy="1371600"/>
          </a:xfrm>
          <a:prstGeom prst="rect">
            <a:avLst/>
          </a:prstGeom>
          <a:noFill/>
          <a:ln/>
        </p:spPr>
        <p:txBody>
          <a:bodyPr wrap="square" lIns="0" tIns="0" rIns="0" bIns="0" rtlCol="0" anchor="ctr"/>
          <a:lstStyle/>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Only cross-product pet companion + coding education platform</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Deep emotional design — 8 pixel-art characters with real personality</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Mentor-mode AI — respects user autonomy (advice only when asked)</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Auto-lesson capture from real coding sessions (zero effort)</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Game economy (hearts, coins, streaks) proven to drive retention</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Workspace-scoped memory — context doesn't leak across projects</a:t>
            </a:r>
            <a:endParaRPr lang="en-US" sz="750" dirty="0"/>
          </a:p>
        </p:txBody>
      </p:sp>
      <p:sp>
        <p:nvSpPr>
          <p:cNvPr id="8" name="Shape 6"/>
          <p:cNvSpPr/>
          <p:nvPr/>
        </p:nvSpPr>
        <p:spPr>
          <a:xfrm>
            <a:off x="4709160" y="822960"/>
            <a:ext cx="3977640" cy="192024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9" name="Shape 7"/>
          <p:cNvSpPr/>
          <p:nvPr/>
        </p:nvSpPr>
        <p:spPr>
          <a:xfrm>
            <a:off x="4709160" y="822960"/>
            <a:ext cx="3977640" cy="54864"/>
          </a:xfrm>
          <a:prstGeom prst="rect">
            <a:avLst/>
          </a:prstGeom>
          <a:solidFill>
            <a:srgbClr val="DC2626"/>
          </a:solidFill>
          <a:ln/>
        </p:spPr>
      </p:sp>
      <p:sp>
        <p:nvSpPr>
          <p:cNvPr id="10" name="Text 8"/>
          <p:cNvSpPr/>
          <p:nvPr/>
        </p:nvSpPr>
        <p:spPr>
          <a:xfrm>
            <a:off x="4846320" y="960120"/>
            <a:ext cx="3703320" cy="22860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WEAKNESSES</a:t>
            </a:r>
            <a:endParaRPr lang="en-US" sz="1000" dirty="0"/>
          </a:p>
        </p:txBody>
      </p:sp>
      <p:sp>
        <p:nvSpPr>
          <p:cNvPr id="11" name="Text 9"/>
          <p:cNvSpPr/>
          <p:nvPr/>
        </p:nvSpPr>
        <p:spPr>
          <a:xfrm>
            <a:off x="4846320" y="1234440"/>
            <a:ext cx="3703320" cy="1371600"/>
          </a:xfrm>
          <a:prstGeom prst="rect">
            <a:avLst/>
          </a:prstGeom>
          <a:noFill/>
          <a:ln/>
        </p:spPr>
        <p:txBody>
          <a:bodyPr wrap="square" lIns="0" tIns="0" rIns="0" bIns="0" rtlCol="0" anchor="ctr"/>
          <a:lstStyle/>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Solo founder / tiny team vs. VC-funded competitors</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Only 8 lessons — content ceiling is the #1 churn risk</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macOS only — no Windows, Linux, mobile, or web</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No first-run guided tour — cold start UX gap</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No skill-level selector — developers feel patronized</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No revenue model yet (no subscription, no ads)</a:t>
            </a:r>
            <a:endParaRPr lang="en-US" sz="750" dirty="0"/>
          </a:p>
        </p:txBody>
      </p:sp>
      <p:sp>
        <p:nvSpPr>
          <p:cNvPr id="12" name="Shape 10"/>
          <p:cNvSpPr/>
          <p:nvPr/>
        </p:nvSpPr>
        <p:spPr>
          <a:xfrm>
            <a:off x="457200" y="2880360"/>
            <a:ext cx="3977640" cy="192024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13" name="Shape 11"/>
          <p:cNvSpPr/>
          <p:nvPr/>
        </p:nvSpPr>
        <p:spPr>
          <a:xfrm>
            <a:off x="457200" y="2880360"/>
            <a:ext cx="3977640" cy="54864"/>
          </a:xfrm>
          <a:prstGeom prst="rect">
            <a:avLst/>
          </a:prstGeom>
          <a:solidFill>
            <a:srgbClr val="2563EB"/>
          </a:solidFill>
          <a:ln/>
        </p:spPr>
      </p:sp>
      <p:sp>
        <p:nvSpPr>
          <p:cNvPr id="14" name="Text 12"/>
          <p:cNvSpPr/>
          <p:nvPr/>
        </p:nvSpPr>
        <p:spPr>
          <a:xfrm>
            <a:off x="594360" y="3017520"/>
            <a:ext cx="3703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OPPORTUNITIES</a:t>
            </a:r>
            <a:endParaRPr lang="en-US" sz="1000" dirty="0"/>
          </a:p>
        </p:txBody>
      </p:sp>
      <p:sp>
        <p:nvSpPr>
          <p:cNvPr id="15" name="Text 13"/>
          <p:cNvSpPr/>
          <p:nvPr/>
        </p:nvSpPr>
        <p:spPr>
          <a:xfrm>
            <a:off x="594360" y="3291840"/>
            <a:ext cx="3703320" cy="1371600"/>
          </a:xfrm>
          <a:prstGeom prst="rect">
            <a:avLst/>
          </a:prstGeom>
          <a:noFill/>
          <a:ln/>
        </p:spPr>
        <p:txBody>
          <a:bodyPr wrap="square" lIns="0" tIns="0" rIns="0" bIns="0" rtlCol="0" anchor="ctr"/>
          <a:lstStyle/>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Gamified education market growing at 38% CAGR ($1.25B → $20.6B)</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Vibecoding trend normalizing AI companions for developers</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Claude Buddy validates the concept — market education is free</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AI-generated lessons can scale content 100x without writers</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Cross-product sync is a true moat (app ↔ extension)</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Kids coding market ($3.1B → $12.4B) — age-appropriate design fits</a:t>
            </a:r>
            <a:endParaRPr lang="en-US" sz="750" dirty="0"/>
          </a:p>
        </p:txBody>
      </p:sp>
      <p:sp>
        <p:nvSpPr>
          <p:cNvPr id="16" name="Shape 14"/>
          <p:cNvSpPr/>
          <p:nvPr/>
        </p:nvSpPr>
        <p:spPr>
          <a:xfrm>
            <a:off x="4709160" y="2880360"/>
            <a:ext cx="3977640" cy="192024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17" name="Shape 15"/>
          <p:cNvSpPr/>
          <p:nvPr/>
        </p:nvSpPr>
        <p:spPr>
          <a:xfrm>
            <a:off x="4709160" y="2880360"/>
            <a:ext cx="3977640" cy="54864"/>
          </a:xfrm>
          <a:prstGeom prst="rect">
            <a:avLst/>
          </a:prstGeom>
          <a:solidFill>
            <a:srgbClr val="D97706"/>
          </a:solidFill>
          <a:ln/>
        </p:spPr>
      </p:sp>
      <p:sp>
        <p:nvSpPr>
          <p:cNvPr id="18" name="Text 16"/>
          <p:cNvSpPr/>
          <p:nvPr/>
        </p:nvSpPr>
        <p:spPr>
          <a:xfrm>
            <a:off x="4846320" y="3017520"/>
            <a:ext cx="3703320" cy="228600"/>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THREATS</a:t>
            </a:r>
            <a:endParaRPr lang="en-US" sz="1000" dirty="0"/>
          </a:p>
        </p:txBody>
      </p:sp>
      <p:sp>
        <p:nvSpPr>
          <p:cNvPr id="19" name="Text 17"/>
          <p:cNvSpPr/>
          <p:nvPr/>
        </p:nvSpPr>
        <p:spPr>
          <a:xfrm>
            <a:off x="4846320" y="3291840"/>
            <a:ext cx="3703320" cy="1371600"/>
          </a:xfrm>
          <a:prstGeom prst="rect">
            <a:avLst/>
          </a:prstGeom>
          <a:noFill/>
          <a:ln/>
        </p:spPr>
        <p:txBody>
          <a:bodyPr wrap="square" lIns="0" tIns="0" rIns="0" bIns="0" rtlCol="0" anchor="ctr"/>
          <a:lstStyle/>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Anthropic's Claude Buddy — terminal pet with infinite resources</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Mimo at $10M ARR with 45 people — proven model, scaling fast</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Duolingo entering coding territory — brand + 100M+ users</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GitHub Copilot (20M users) could add gamification overnight</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'Companion fatigue' if novelty wears off without deep content</a:t>
            </a:r>
            <a:endParaRPr lang="en-US" sz="750" dirty="0"/>
          </a:p>
          <a:p>
            <a:pPr marL="342900" indent="-342900">
              <a:spcAft>
                <a:spcPts val="300"/>
              </a:spcAft>
              <a:buSzPct val="100000"/>
              <a:buChar char="•"/>
            </a:pPr>
            <a:r>
              <a:rPr lang="en-US" sz="750" dirty="0">
                <a:solidFill>
                  <a:srgbClr val="1E293B"/>
                </a:solidFill>
                <a:latin typeface="Calibri" pitchFamily="34" charset="0"/>
                <a:ea typeface="Calibri" pitchFamily="34" charset="-122"/>
                <a:cs typeface="Calibri" pitchFamily="34" charset="-120"/>
              </a:rPr>
              <a:t>Platform dependency — VS Code / Apple could change rules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C"/>
        </a:solidFill>
      </p:bgPr>
    </p:bg>
    <p:spTree>
      <p:nvGrpSpPr>
        <p:cNvPr id="1" name=""/>
        <p:cNvGrpSpPr/>
        <p:nvPr/>
      </p:nvGrpSpPr>
      <p:grpSpPr>
        <a:xfrm>
          <a:off x="0" y="0"/>
          <a:ext cx="0" cy="0"/>
          <a:chOff x="0" y="0"/>
          <a:chExt cx="0" cy="0"/>
        </a:xfrm>
      </p:grpSpPr>
      <p:sp>
        <p:nvSpPr>
          <p:cNvPr id="2" name="Text 0"/>
          <p:cNvSpPr/>
          <p:nvPr/>
        </p:nvSpPr>
        <p:spPr>
          <a:xfrm>
            <a:off x="457200" y="182880"/>
            <a:ext cx="8229600" cy="228600"/>
          </a:xfrm>
          <a:prstGeom prst="rect">
            <a:avLst/>
          </a:prstGeom>
          <a:noFill/>
          <a:ln/>
        </p:spPr>
        <p:txBody>
          <a:bodyPr wrap="square" lIns="0" tIns="0" rIns="0" bIns="0" rtlCol="0" anchor="ctr"/>
          <a:lstStyle/>
          <a:p>
            <a:pPr indent="0" marL="0">
              <a:buNone/>
            </a:pPr>
            <a:r>
              <a:rPr lang="en-US" sz="700" b="1" spc="300" kern="0" dirty="0">
                <a:solidFill>
                  <a:srgbClr val="7B6BD8"/>
                </a:solidFill>
                <a:latin typeface="Calibri" pitchFamily="34" charset="0"/>
                <a:ea typeface="Calibri" pitchFamily="34" charset="-122"/>
                <a:cs typeface="Calibri" pitchFamily="34" charset="-120"/>
              </a:rPr>
              <a:t>UNIQUE SELLING POINTS</a:t>
            </a:r>
            <a:endParaRPr lang="en-US" sz="700" dirty="0"/>
          </a:p>
        </p:txBody>
      </p:sp>
      <p:sp>
        <p:nvSpPr>
          <p:cNvPr id="3" name="Text 1"/>
          <p:cNvSpPr/>
          <p:nvPr/>
        </p:nvSpPr>
        <p:spPr>
          <a:xfrm>
            <a:off x="457200" y="411480"/>
            <a:ext cx="8229600" cy="41148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What Makes Codepet Different</a:t>
            </a:r>
            <a:endParaRPr lang="en-US" sz="2200" dirty="0"/>
          </a:p>
        </p:txBody>
      </p:sp>
      <p:sp>
        <p:nvSpPr>
          <p:cNvPr id="4" name="Shape 2"/>
          <p:cNvSpPr/>
          <p:nvPr/>
        </p:nvSpPr>
        <p:spPr>
          <a:xfrm>
            <a:off x="457200" y="1005840"/>
            <a:ext cx="8229600" cy="68580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5" name="Shape 3"/>
          <p:cNvSpPr/>
          <p:nvPr/>
        </p:nvSpPr>
        <p:spPr>
          <a:xfrm>
            <a:off x="457200" y="1005840"/>
            <a:ext cx="8229600" cy="54864"/>
          </a:xfrm>
          <a:prstGeom prst="rect">
            <a:avLst/>
          </a:prstGeom>
          <a:solidFill>
            <a:srgbClr val="534AB7"/>
          </a:solidFill>
          <a:ln/>
        </p:spPr>
      </p:sp>
      <p:sp>
        <p:nvSpPr>
          <p:cNvPr id="6" name="Text 4"/>
          <p:cNvSpPr/>
          <p:nvPr/>
        </p:nvSpPr>
        <p:spPr>
          <a:xfrm>
            <a:off x="594360" y="1143000"/>
            <a:ext cx="457200" cy="365760"/>
          </a:xfrm>
          <a:prstGeom prst="rect">
            <a:avLst/>
          </a:prstGeom>
          <a:noFill/>
          <a:ln/>
        </p:spPr>
        <p:txBody>
          <a:bodyPr wrap="square" lIns="0" tIns="0" rIns="0" bIns="0" rtlCol="0" anchor="ctr"/>
          <a:lstStyle/>
          <a:p>
            <a:pPr indent="0" marL="0">
              <a:buNone/>
            </a:pPr>
            <a:r>
              <a:rPr lang="en-US" sz="2200" b="1" dirty="0">
                <a:solidFill>
                  <a:srgbClr val="534AB7"/>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1188720" y="1097280"/>
            <a:ext cx="2743200" cy="22860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Companion-First Architecture</a:t>
            </a:r>
            <a:endParaRPr lang="en-US" sz="1100" dirty="0"/>
          </a:p>
        </p:txBody>
      </p:sp>
      <p:sp>
        <p:nvSpPr>
          <p:cNvPr id="8" name="Text 6"/>
          <p:cNvSpPr/>
          <p:nvPr/>
        </p:nvSpPr>
        <p:spPr>
          <a:xfrm>
            <a:off x="1188720" y="1325880"/>
            <a:ext cx="7132320" cy="32004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Not a tool with a pet bolted on. The entire product is built around the relationship between user and character. Byte doesn't just react — it mentors, using Thich Nhat Hanh's deep listening framework.</a:t>
            </a:r>
            <a:endParaRPr lang="en-US" sz="800" dirty="0"/>
          </a:p>
        </p:txBody>
      </p:sp>
      <p:sp>
        <p:nvSpPr>
          <p:cNvPr id="9" name="Shape 7"/>
          <p:cNvSpPr/>
          <p:nvPr/>
        </p:nvSpPr>
        <p:spPr>
          <a:xfrm>
            <a:off x="457200" y="1783080"/>
            <a:ext cx="8229600" cy="68580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10" name="Shape 8"/>
          <p:cNvSpPr/>
          <p:nvPr/>
        </p:nvSpPr>
        <p:spPr>
          <a:xfrm>
            <a:off x="457200" y="1783080"/>
            <a:ext cx="8229600" cy="54864"/>
          </a:xfrm>
          <a:prstGeom prst="rect">
            <a:avLst/>
          </a:prstGeom>
          <a:solidFill>
            <a:srgbClr val="0D9488"/>
          </a:solidFill>
          <a:ln/>
        </p:spPr>
      </p:sp>
      <p:sp>
        <p:nvSpPr>
          <p:cNvPr id="11" name="Text 9"/>
          <p:cNvSpPr/>
          <p:nvPr/>
        </p:nvSpPr>
        <p:spPr>
          <a:xfrm>
            <a:off x="594360" y="1920240"/>
            <a:ext cx="457200" cy="365760"/>
          </a:xfrm>
          <a:prstGeom prst="rect">
            <a:avLst/>
          </a:prstGeom>
          <a:noFill/>
          <a:ln/>
        </p:spPr>
        <p:txBody>
          <a:bodyPr wrap="square" lIns="0" tIns="0" rIns="0" bIns="0" rtlCol="0" anchor="ctr"/>
          <a:lstStyle/>
          <a:p>
            <a:pPr indent="0" marL="0">
              <a:buNone/>
            </a:pPr>
            <a:r>
              <a:rPr lang="en-US" sz="2200" b="1" dirty="0">
                <a:solidFill>
                  <a:srgbClr val="0D9488"/>
                </a:solidFill>
                <a:latin typeface="Georgia" pitchFamily="34" charset="0"/>
                <a:ea typeface="Georgia" pitchFamily="34" charset="-122"/>
                <a:cs typeface="Georgia" pitchFamily="34" charset="-120"/>
              </a:rPr>
              <a:t>02</a:t>
            </a:r>
            <a:endParaRPr lang="en-US" sz="2200" dirty="0"/>
          </a:p>
        </p:txBody>
      </p:sp>
      <p:sp>
        <p:nvSpPr>
          <p:cNvPr id="12" name="Text 10"/>
          <p:cNvSpPr/>
          <p:nvPr/>
        </p:nvSpPr>
        <p:spPr>
          <a:xfrm>
            <a:off x="1188720" y="1874520"/>
            <a:ext cx="2743200" cy="22860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Cross-Product Identity</a:t>
            </a:r>
            <a:endParaRPr lang="en-US" sz="1100" dirty="0"/>
          </a:p>
        </p:txBody>
      </p:sp>
      <p:sp>
        <p:nvSpPr>
          <p:cNvPr id="13" name="Text 11"/>
          <p:cNvSpPr/>
          <p:nvPr/>
        </p:nvSpPr>
        <p:spPr>
          <a:xfrm>
            <a:off x="1188720" y="2103120"/>
            <a:ext cx="7132320" cy="32004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Learn concepts in the macOS app, apply them in VS Code. Same pet, same account, same progress. No competitor bridges the 'learn' and 'build' contexts like this.</a:t>
            </a:r>
            <a:endParaRPr lang="en-US" sz="800" dirty="0"/>
          </a:p>
        </p:txBody>
      </p:sp>
      <p:sp>
        <p:nvSpPr>
          <p:cNvPr id="14" name="Shape 12"/>
          <p:cNvSpPr/>
          <p:nvPr/>
        </p:nvSpPr>
        <p:spPr>
          <a:xfrm>
            <a:off x="457200" y="2560320"/>
            <a:ext cx="8229600" cy="68580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15" name="Shape 13"/>
          <p:cNvSpPr/>
          <p:nvPr/>
        </p:nvSpPr>
        <p:spPr>
          <a:xfrm>
            <a:off x="457200" y="2560320"/>
            <a:ext cx="8229600" cy="54864"/>
          </a:xfrm>
          <a:prstGeom prst="rect">
            <a:avLst/>
          </a:prstGeom>
          <a:solidFill>
            <a:srgbClr val="D97706"/>
          </a:solidFill>
          <a:ln/>
        </p:spPr>
      </p:sp>
      <p:sp>
        <p:nvSpPr>
          <p:cNvPr id="16" name="Text 14"/>
          <p:cNvSpPr/>
          <p:nvPr/>
        </p:nvSpPr>
        <p:spPr>
          <a:xfrm>
            <a:off x="594360" y="2697480"/>
            <a:ext cx="457200" cy="365760"/>
          </a:xfrm>
          <a:prstGeom prst="rect">
            <a:avLst/>
          </a:prstGeom>
          <a:noFill/>
          <a:ln/>
        </p:spPr>
        <p:txBody>
          <a:bodyPr wrap="square" lIns="0" tIns="0" rIns="0" bIns="0" rtlCol="0" anchor="ctr"/>
          <a:lstStyle/>
          <a:p>
            <a:pPr indent="0" marL="0">
              <a:buNone/>
            </a:pPr>
            <a:r>
              <a:rPr lang="en-US" sz="2200" b="1" dirty="0">
                <a:solidFill>
                  <a:srgbClr val="D97706"/>
                </a:solidFill>
                <a:latin typeface="Georgia" pitchFamily="34" charset="0"/>
                <a:ea typeface="Georgia" pitchFamily="34" charset="-122"/>
                <a:cs typeface="Georgia" pitchFamily="34" charset="-120"/>
              </a:rPr>
              <a:t>03</a:t>
            </a:r>
            <a:endParaRPr lang="en-US" sz="2200" dirty="0"/>
          </a:p>
        </p:txBody>
      </p:sp>
      <p:sp>
        <p:nvSpPr>
          <p:cNvPr id="17" name="Text 15"/>
          <p:cNvSpPr/>
          <p:nvPr/>
        </p:nvSpPr>
        <p:spPr>
          <a:xfrm>
            <a:off x="1188720" y="2651760"/>
            <a:ext cx="2743200" cy="22860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Zero-Effort Knowledge Capture</a:t>
            </a:r>
            <a:endParaRPr lang="en-US" sz="1100" dirty="0"/>
          </a:p>
        </p:txBody>
      </p:sp>
      <p:sp>
        <p:nvSpPr>
          <p:cNvPr id="18" name="Text 16"/>
          <p:cNvSpPr/>
          <p:nvPr/>
        </p:nvSpPr>
        <p:spPr>
          <a:xfrm>
            <a:off x="1188720" y="2880360"/>
            <a:ext cx="7132320" cy="32004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Auto-lessons extracted from real Claude coding sessions — no manual journaling. The extension watches your workflow and distills structured takeaways automatically.</a:t>
            </a:r>
            <a:endParaRPr lang="en-US" sz="800" dirty="0"/>
          </a:p>
        </p:txBody>
      </p:sp>
      <p:sp>
        <p:nvSpPr>
          <p:cNvPr id="19" name="Shape 17"/>
          <p:cNvSpPr/>
          <p:nvPr/>
        </p:nvSpPr>
        <p:spPr>
          <a:xfrm>
            <a:off x="457200" y="3337560"/>
            <a:ext cx="8229600" cy="68580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20" name="Shape 18"/>
          <p:cNvSpPr/>
          <p:nvPr/>
        </p:nvSpPr>
        <p:spPr>
          <a:xfrm>
            <a:off x="457200" y="3337560"/>
            <a:ext cx="8229600" cy="54864"/>
          </a:xfrm>
          <a:prstGeom prst="rect">
            <a:avLst/>
          </a:prstGeom>
          <a:solidFill>
            <a:srgbClr val="E879A8"/>
          </a:solidFill>
          <a:ln/>
        </p:spPr>
      </p:sp>
      <p:sp>
        <p:nvSpPr>
          <p:cNvPr id="21" name="Text 19"/>
          <p:cNvSpPr/>
          <p:nvPr/>
        </p:nvSpPr>
        <p:spPr>
          <a:xfrm>
            <a:off x="594360" y="3474720"/>
            <a:ext cx="457200" cy="365760"/>
          </a:xfrm>
          <a:prstGeom prst="rect">
            <a:avLst/>
          </a:prstGeom>
          <a:noFill/>
          <a:ln/>
        </p:spPr>
        <p:txBody>
          <a:bodyPr wrap="square" lIns="0" tIns="0" rIns="0" bIns="0" rtlCol="0" anchor="ctr"/>
          <a:lstStyle/>
          <a:p>
            <a:pPr indent="0" marL="0">
              <a:buNone/>
            </a:pPr>
            <a:r>
              <a:rPr lang="en-US" sz="2200" b="1" dirty="0">
                <a:solidFill>
                  <a:srgbClr val="E879A8"/>
                </a:solidFill>
                <a:latin typeface="Georgia" pitchFamily="34" charset="0"/>
                <a:ea typeface="Georgia" pitchFamily="34" charset="-122"/>
                <a:cs typeface="Georgia" pitchFamily="34" charset="-120"/>
              </a:rPr>
              <a:t>04</a:t>
            </a:r>
            <a:endParaRPr lang="en-US" sz="2200" dirty="0"/>
          </a:p>
        </p:txBody>
      </p:sp>
      <p:sp>
        <p:nvSpPr>
          <p:cNvPr id="22" name="Text 20"/>
          <p:cNvSpPr/>
          <p:nvPr/>
        </p:nvSpPr>
        <p:spPr>
          <a:xfrm>
            <a:off x="1188720" y="3429000"/>
            <a:ext cx="2743200" cy="22860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Emotional Retention Engine</a:t>
            </a:r>
            <a:endParaRPr lang="en-US" sz="1100" dirty="0"/>
          </a:p>
        </p:txBody>
      </p:sp>
      <p:sp>
        <p:nvSpPr>
          <p:cNvPr id="23" name="Text 21"/>
          <p:cNvSpPr/>
          <p:nvPr/>
        </p:nvSpPr>
        <p:spPr>
          <a:xfrm>
            <a:off x="1188720" y="3657600"/>
            <a:ext cx="7132320" cy="32004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Hearts, coins, streaks, pet mood, hunger, energy — a full game economy proven by Duolingo to drive daily return rates. Competitors offer code completion; Codepet offers a reason to come back.</a:t>
            </a:r>
            <a:endParaRPr lang="en-US" sz="800" dirty="0"/>
          </a:p>
        </p:txBody>
      </p:sp>
      <p:sp>
        <p:nvSpPr>
          <p:cNvPr id="24" name="Shape 22"/>
          <p:cNvSpPr/>
          <p:nvPr/>
        </p:nvSpPr>
        <p:spPr>
          <a:xfrm>
            <a:off x="457200" y="4114800"/>
            <a:ext cx="8229600" cy="685800"/>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25" name="Shape 23"/>
          <p:cNvSpPr/>
          <p:nvPr/>
        </p:nvSpPr>
        <p:spPr>
          <a:xfrm>
            <a:off x="457200" y="4114800"/>
            <a:ext cx="8229600" cy="54864"/>
          </a:xfrm>
          <a:prstGeom prst="rect">
            <a:avLst/>
          </a:prstGeom>
          <a:solidFill>
            <a:srgbClr val="2563EB"/>
          </a:solidFill>
          <a:ln/>
        </p:spPr>
      </p:sp>
      <p:sp>
        <p:nvSpPr>
          <p:cNvPr id="26" name="Text 24"/>
          <p:cNvSpPr/>
          <p:nvPr/>
        </p:nvSpPr>
        <p:spPr>
          <a:xfrm>
            <a:off x="594360" y="4251960"/>
            <a:ext cx="457200" cy="365760"/>
          </a:xfrm>
          <a:prstGeom prst="rect">
            <a:avLst/>
          </a:prstGeom>
          <a:noFill/>
          <a:ln/>
        </p:spPr>
        <p:txBody>
          <a:bodyPr wrap="square" lIns="0" tIns="0" rIns="0" bIns="0" rtlCol="0" anchor="ctr"/>
          <a:lstStyle/>
          <a:p>
            <a:pPr indent="0" marL="0">
              <a:buNone/>
            </a:pPr>
            <a:r>
              <a:rPr lang="en-US" sz="2200" b="1" dirty="0">
                <a:solidFill>
                  <a:srgbClr val="2563EB"/>
                </a:solidFill>
                <a:latin typeface="Georgia" pitchFamily="34" charset="0"/>
                <a:ea typeface="Georgia" pitchFamily="34" charset="-122"/>
                <a:cs typeface="Georgia" pitchFamily="34" charset="-120"/>
              </a:rPr>
              <a:t>05</a:t>
            </a:r>
            <a:endParaRPr lang="en-US" sz="2200" dirty="0"/>
          </a:p>
        </p:txBody>
      </p:sp>
      <p:sp>
        <p:nvSpPr>
          <p:cNvPr id="27" name="Text 25"/>
          <p:cNvSpPr/>
          <p:nvPr/>
        </p:nvSpPr>
        <p:spPr>
          <a:xfrm>
            <a:off x="1188720" y="4206240"/>
            <a:ext cx="2743200" cy="22860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Respect-Based AI</a:t>
            </a:r>
            <a:endParaRPr lang="en-US" sz="1100" dirty="0"/>
          </a:p>
        </p:txBody>
      </p:sp>
      <p:sp>
        <p:nvSpPr>
          <p:cNvPr id="28" name="Text 26"/>
          <p:cNvSpPr/>
          <p:nvPr/>
        </p:nvSpPr>
        <p:spPr>
          <a:xfrm>
            <a:off x="1188720" y="4434840"/>
            <a:ext cx="7132320" cy="32004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Mentor mode means Codepet observes but only advises when asked. Option Guide evaluates Claude's numbered options with reasoned recommendations. It thinks with you, not for you.</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C"/>
        </a:solidFill>
      </p:bgPr>
    </p:bg>
    <p:spTree>
      <p:nvGrpSpPr>
        <p:cNvPr id="1" name=""/>
        <p:cNvGrpSpPr/>
        <p:nvPr/>
      </p:nvGrpSpPr>
      <p:grpSpPr>
        <a:xfrm>
          <a:off x="0" y="0"/>
          <a:ext cx="0" cy="0"/>
          <a:chOff x="0" y="0"/>
          <a:chExt cx="0" cy="0"/>
        </a:xfrm>
      </p:grpSpPr>
      <p:sp>
        <p:nvSpPr>
          <p:cNvPr id="2" name="Text 0"/>
          <p:cNvSpPr/>
          <p:nvPr/>
        </p:nvSpPr>
        <p:spPr>
          <a:xfrm>
            <a:off x="457200" y="137160"/>
            <a:ext cx="8229600" cy="228600"/>
          </a:xfrm>
          <a:prstGeom prst="rect">
            <a:avLst/>
          </a:prstGeom>
          <a:noFill/>
          <a:ln/>
        </p:spPr>
        <p:txBody>
          <a:bodyPr wrap="square" lIns="0" tIns="0" rIns="0" bIns="0" rtlCol="0" anchor="ctr"/>
          <a:lstStyle/>
          <a:p>
            <a:pPr indent="0" marL="0">
              <a:buNone/>
            </a:pPr>
            <a:r>
              <a:rPr lang="en-US" sz="700" b="1" spc="300" kern="0" dirty="0">
                <a:solidFill>
                  <a:srgbClr val="7B6BD8"/>
                </a:solidFill>
                <a:latin typeface="Calibri" pitchFamily="34" charset="0"/>
                <a:ea typeface="Calibri" pitchFamily="34" charset="-122"/>
                <a:cs typeface="Calibri" pitchFamily="34" charset="-120"/>
              </a:rPr>
              <a:t>STRATEGIC RECOMMENDATIONS</a:t>
            </a:r>
            <a:endParaRPr lang="en-US" sz="700" dirty="0"/>
          </a:p>
        </p:txBody>
      </p:sp>
      <p:sp>
        <p:nvSpPr>
          <p:cNvPr id="3" name="Text 1"/>
          <p:cNvSpPr/>
          <p:nvPr/>
        </p:nvSpPr>
        <p:spPr>
          <a:xfrm>
            <a:off x="457200" y="320040"/>
            <a:ext cx="8229600" cy="36576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What Codepet Should Do Now</a:t>
            </a:r>
            <a:endParaRPr lang="en-US" sz="2200" dirty="0"/>
          </a:p>
        </p:txBody>
      </p:sp>
      <p:sp>
        <p:nvSpPr>
          <p:cNvPr id="4" name="Shape 2"/>
          <p:cNvSpPr/>
          <p:nvPr/>
        </p:nvSpPr>
        <p:spPr>
          <a:xfrm>
            <a:off x="457200" y="777240"/>
            <a:ext cx="8229600" cy="749808"/>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5" name="Shape 3"/>
          <p:cNvSpPr/>
          <p:nvPr/>
        </p:nvSpPr>
        <p:spPr>
          <a:xfrm>
            <a:off x="457200" y="777240"/>
            <a:ext cx="8229600" cy="54864"/>
          </a:xfrm>
          <a:prstGeom prst="rect">
            <a:avLst/>
          </a:prstGeom>
          <a:solidFill>
            <a:srgbClr val="DC2626"/>
          </a:solidFill>
          <a:ln/>
        </p:spPr>
      </p:sp>
      <p:sp>
        <p:nvSpPr>
          <p:cNvPr id="6" name="Shape 4"/>
          <p:cNvSpPr/>
          <p:nvPr/>
        </p:nvSpPr>
        <p:spPr>
          <a:xfrm>
            <a:off x="594360" y="886968"/>
            <a:ext cx="457200" cy="201168"/>
          </a:xfrm>
          <a:prstGeom prst="roundRect">
            <a:avLst>
              <a:gd name="adj" fmla="val 13636"/>
            </a:avLst>
          </a:prstGeom>
          <a:solidFill>
            <a:srgbClr val="DC2626"/>
          </a:solidFill>
          <a:ln/>
        </p:spPr>
      </p:sp>
      <p:sp>
        <p:nvSpPr>
          <p:cNvPr id="7" name="Text 5"/>
          <p:cNvSpPr/>
          <p:nvPr/>
        </p:nvSpPr>
        <p:spPr>
          <a:xfrm>
            <a:off x="594360" y="886968"/>
            <a:ext cx="45720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P0</a:t>
            </a:r>
            <a:endParaRPr lang="en-US" sz="800" dirty="0"/>
          </a:p>
        </p:txBody>
      </p:sp>
      <p:sp>
        <p:nvSpPr>
          <p:cNvPr id="8" name="Text 6"/>
          <p:cNvSpPr/>
          <p:nvPr/>
        </p:nvSpPr>
        <p:spPr>
          <a:xfrm>
            <a:off x="1143000" y="850392"/>
            <a:ext cx="1371600" cy="182880"/>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CONTENT MOAT</a:t>
            </a:r>
            <a:endParaRPr lang="en-US" sz="700" dirty="0"/>
          </a:p>
        </p:txBody>
      </p:sp>
      <p:sp>
        <p:nvSpPr>
          <p:cNvPr id="9" name="Text 7"/>
          <p:cNvSpPr/>
          <p:nvPr/>
        </p:nvSpPr>
        <p:spPr>
          <a:xfrm>
            <a:off x="1143000" y="1033272"/>
            <a:ext cx="5029200" cy="20116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AI-Generated Lesson Engine</a:t>
            </a:r>
            <a:endParaRPr lang="en-US" sz="1100" dirty="0"/>
          </a:p>
        </p:txBody>
      </p:sp>
      <p:sp>
        <p:nvSpPr>
          <p:cNvPr id="10" name="Text 8"/>
          <p:cNvSpPr/>
          <p:nvPr/>
        </p:nvSpPr>
        <p:spPr>
          <a:xfrm>
            <a:off x="1143000" y="1234440"/>
            <a:ext cx="5943600" cy="274320"/>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Build an LLM pipeline that generates unlimited lessons from the 4-kingdom curriculum. This eliminates the content ceiling (8 lessons) which is the single biggest churn risk. Use Claude API to create adaptive difficulty based on user skill level.</a:t>
            </a:r>
            <a:endParaRPr lang="en-US" sz="700" dirty="0"/>
          </a:p>
        </p:txBody>
      </p:sp>
      <p:sp>
        <p:nvSpPr>
          <p:cNvPr id="11" name="Text 9"/>
          <p:cNvSpPr/>
          <p:nvPr/>
        </p:nvSpPr>
        <p:spPr>
          <a:xfrm>
            <a:off x="7315200" y="1005840"/>
            <a:ext cx="1188720" cy="320040"/>
          </a:xfrm>
          <a:prstGeom prst="rect">
            <a:avLst/>
          </a:prstGeom>
          <a:noFill/>
          <a:ln/>
        </p:spPr>
        <p:txBody>
          <a:bodyPr wrap="square" lIns="0" tIns="0" rIns="0" bIns="0" rtlCol="0" anchor="ctr"/>
          <a:lstStyle/>
          <a:p>
            <a:pPr algn="ctr" indent="0" marL="0">
              <a:buNone/>
            </a:pPr>
            <a:r>
              <a:rPr lang="en-US" sz="700" b="1" dirty="0">
                <a:solidFill>
                  <a:srgbClr val="DC2626"/>
                </a:solidFill>
                <a:latin typeface="Calibri" pitchFamily="34" charset="0"/>
                <a:ea typeface="Calibri" pitchFamily="34" charset="-122"/>
                <a:cs typeface="Calibri" pitchFamily="34" charset="-120"/>
              </a:rPr>
              <a:t>Removes #1 weakness overnight</a:t>
            </a:r>
            <a:endParaRPr lang="en-US" sz="700" dirty="0"/>
          </a:p>
        </p:txBody>
      </p:sp>
      <p:sp>
        <p:nvSpPr>
          <p:cNvPr id="12" name="Shape 10"/>
          <p:cNvSpPr/>
          <p:nvPr/>
        </p:nvSpPr>
        <p:spPr>
          <a:xfrm>
            <a:off x="457200" y="1618488"/>
            <a:ext cx="8229600" cy="749808"/>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13" name="Shape 11"/>
          <p:cNvSpPr/>
          <p:nvPr/>
        </p:nvSpPr>
        <p:spPr>
          <a:xfrm>
            <a:off x="457200" y="1618488"/>
            <a:ext cx="8229600" cy="54864"/>
          </a:xfrm>
          <a:prstGeom prst="rect">
            <a:avLst/>
          </a:prstGeom>
          <a:solidFill>
            <a:srgbClr val="DC2626"/>
          </a:solidFill>
          <a:ln/>
        </p:spPr>
      </p:sp>
      <p:sp>
        <p:nvSpPr>
          <p:cNvPr id="14" name="Shape 12"/>
          <p:cNvSpPr/>
          <p:nvPr/>
        </p:nvSpPr>
        <p:spPr>
          <a:xfrm>
            <a:off x="594360" y="1728216"/>
            <a:ext cx="457200" cy="201168"/>
          </a:xfrm>
          <a:prstGeom prst="roundRect">
            <a:avLst>
              <a:gd name="adj" fmla="val 13636"/>
            </a:avLst>
          </a:prstGeom>
          <a:solidFill>
            <a:srgbClr val="DC2626"/>
          </a:solidFill>
          <a:ln/>
        </p:spPr>
      </p:sp>
      <p:sp>
        <p:nvSpPr>
          <p:cNvPr id="15" name="Text 13"/>
          <p:cNvSpPr/>
          <p:nvPr/>
        </p:nvSpPr>
        <p:spPr>
          <a:xfrm>
            <a:off x="594360" y="1728216"/>
            <a:ext cx="45720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P0</a:t>
            </a:r>
            <a:endParaRPr lang="en-US" sz="800" dirty="0"/>
          </a:p>
        </p:txBody>
      </p:sp>
      <p:sp>
        <p:nvSpPr>
          <p:cNvPr id="16" name="Text 14"/>
          <p:cNvSpPr/>
          <p:nvPr/>
        </p:nvSpPr>
        <p:spPr>
          <a:xfrm>
            <a:off x="1143000" y="1691640"/>
            <a:ext cx="1371600" cy="182880"/>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FIRST IMPRESSION</a:t>
            </a:r>
            <a:endParaRPr lang="en-US" sz="700" dirty="0"/>
          </a:p>
        </p:txBody>
      </p:sp>
      <p:sp>
        <p:nvSpPr>
          <p:cNvPr id="17" name="Text 15"/>
          <p:cNvSpPr/>
          <p:nvPr/>
        </p:nvSpPr>
        <p:spPr>
          <a:xfrm>
            <a:off x="1143000" y="1874520"/>
            <a:ext cx="5029200" cy="20116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Guided First-Run Experience</a:t>
            </a:r>
            <a:endParaRPr lang="en-US" sz="1100" dirty="0"/>
          </a:p>
        </p:txBody>
      </p:sp>
      <p:sp>
        <p:nvSpPr>
          <p:cNvPr id="18" name="Text 16"/>
          <p:cNvSpPr/>
          <p:nvPr/>
        </p:nvSpPr>
        <p:spPr>
          <a:xfrm>
            <a:off x="1143000" y="2075688"/>
            <a:ext cx="5943600" cy="274320"/>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Extension and app both need an interactive tour. Pet character guides user through every feature on first launch. 'Hi! I'm Byte. Let me show you around.' This alone can improve activation rates by 30–50%.</a:t>
            </a:r>
            <a:endParaRPr lang="en-US" sz="700" dirty="0"/>
          </a:p>
        </p:txBody>
      </p:sp>
      <p:sp>
        <p:nvSpPr>
          <p:cNvPr id="19" name="Text 17"/>
          <p:cNvSpPr/>
          <p:nvPr/>
        </p:nvSpPr>
        <p:spPr>
          <a:xfrm>
            <a:off x="7315200" y="1847088"/>
            <a:ext cx="1188720" cy="320040"/>
          </a:xfrm>
          <a:prstGeom prst="rect">
            <a:avLst/>
          </a:prstGeom>
          <a:noFill/>
          <a:ln/>
        </p:spPr>
        <p:txBody>
          <a:bodyPr wrap="square" lIns="0" tIns="0" rIns="0" bIns="0" rtlCol="0" anchor="ctr"/>
          <a:lstStyle/>
          <a:p>
            <a:pPr algn="ctr" indent="0" marL="0">
              <a:buNone/>
            </a:pPr>
            <a:r>
              <a:rPr lang="en-US" sz="700" b="1" dirty="0">
                <a:solidFill>
                  <a:srgbClr val="DC2626"/>
                </a:solidFill>
                <a:latin typeface="Calibri" pitchFamily="34" charset="0"/>
                <a:ea typeface="Calibri" pitchFamily="34" charset="-122"/>
                <a:cs typeface="Calibri" pitchFamily="34" charset="-120"/>
              </a:rPr>
              <a:t>Fixes cold-start drop-off</a:t>
            </a:r>
            <a:endParaRPr lang="en-US" sz="700" dirty="0"/>
          </a:p>
        </p:txBody>
      </p:sp>
      <p:sp>
        <p:nvSpPr>
          <p:cNvPr id="20" name="Shape 18"/>
          <p:cNvSpPr/>
          <p:nvPr/>
        </p:nvSpPr>
        <p:spPr>
          <a:xfrm>
            <a:off x="457200" y="2459736"/>
            <a:ext cx="8229600" cy="749808"/>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21" name="Shape 19"/>
          <p:cNvSpPr/>
          <p:nvPr/>
        </p:nvSpPr>
        <p:spPr>
          <a:xfrm>
            <a:off x="457200" y="2459736"/>
            <a:ext cx="8229600" cy="54864"/>
          </a:xfrm>
          <a:prstGeom prst="rect">
            <a:avLst/>
          </a:prstGeom>
          <a:solidFill>
            <a:srgbClr val="D97706"/>
          </a:solidFill>
          <a:ln/>
        </p:spPr>
      </p:sp>
      <p:sp>
        <p:nvSpPr>
          <p:cNvPr id="22" name="Shape 20"/>
          <p:cNvSpPr/>
          <p:nvPr/>
        </p:nvSpPr>
        <p:spPr>
          <a:xfrm>
            <a:off x="594360" y="2569464"/>
            <a:ext cx="457200" cy="201168"/>
          </a:xfrm>
          <a:prstGeom prst="roundRect">
            <a:avLst>
              <a:gd name="adj" fmla="val 13636"/>
            </a:avLst>
          </a:prstGeom>
          <a:solidFill>
            <a:srgbClr val="D97706"/>
          </a:solidFill>
          <a:ln/>
        </p:spPr>
      </p:sp>
      <p:sp>
        <p:nvSpPr>
          <p:cNvPr id="23" name="Text 21"/>
          <p:cNvSpPr/>
          <p:nvPr/>
        </p:nvSpPr>
        <p:spPr>
          <a:xfrm>
            <a:off x="594360" y="2569464"/>
            <a:ext cx="45720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P1</a:t>
            </a:r>
            <a:endParaRPr lang="en-US" sz="800" dirty="0"/>
          </a:p>
        </p:txBody>
      </p:sp>
      <p:sp>
        <p:nvSpPr>
          <p:cNvPr id="24" name="Text 22"/>
          <p:cNvSpPr/>
          <p:nvPr/>
        </p:nvSpPr>
        <p:spPr>
          <a:xfrm>
            <a:off x="1143000" y="2532888"/>
            <a:ext cx="1371600" cy="182880"/>
          </a:xfrm>
          <a:prstGeom prst="rect">
            <a:avLst/>
          </a:prstGeom>
          <a:noFill/>
          <a:ln/>
        </p:spPr>
        <p:txBody>
          <a:bodyPr wrap="square" lIns="0" tIns="0" rIns="0" bIns="0" rtlCol="0" anchor="ctr"/>
          <a:lstStyle/>
          <a:p>
            <a:pPr indent="0" marL="0">
              <a:buNone/>
            </a:pPr>
            <a:r>
              <a:rPr lang="en-US" sz="700" b="1" spc="200" kern="0" dirty="0">
                <a:solidFill>
                  <a:srgbClr val="D97706"/>
                </a:solidFill>
                <a:latin typeface="Calibri" pitchFamily="34" charset="0"/>
                <a:ea typeface="Calibri" pitchFamily="34" charset="-122"/>
                <a:cs typeface="Calibri" pitchFamily="34" charset="-120"/>
              </a:rPr>
              <a:t>DEVELOPER MODE</a:t>
            </a:r>
            <a:endParaRPr lang="en-US" sz="700" dirty="0"/>
          </a:p>
        </p:txBody>
      </p:sp>
      <p:sp>
        <p:nvSpPr>
          <p:cNvPr id="25" name="Text 23"/>
          <p:cNvSpPr/>
          <p:nvPr/>
        </p:nvSpPr>
        <p:spPr>
          <a:xfrm>
            <a:off x="1143000" y="2715768"/>
            <a:ext cx="5029200" cy="20116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Pro Mode + Skill-Level Selector</a:t>
            </a:r>
            <a:endParaRPr lang="en-US" sz="1100" dirty="0"/>
          </a:p>
        </p:txBody>
      </p:sp>
      <p:sp>
        <p:nvSpPr>
          <p:cNvPr id="26" name="Text 24"/>
          <p:cNvSpPr/>
          <p:nvPr/>
        </p:nvSpPr>
        <p:spPr>
          <a:xfrm>
            <a:off x="1143000" y="2916936"/>
            <a:ext cx="5943600" cy="274320"/>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Add 'I'm a developer' express path at onboarding. Pro mode hides gamification, focuses on AI companion + auto-lessons + insights. Captures the developer persona that currently bounces.</a:t>
            </a:r>
            <a:endParaRPr lang="en-US" sz="700" dirty="0"/>
          </a:p>
        </p:txBody>
      </p:sp>
      <p:sp>
        <p:nvSpPr>
          <p:cNvPr id="27" name="Text 25"/>
          <p:cNvSpPr/>
          <p:nvPr/>
        </p:nvSpPr>
        <p:spPr>
          <a:xfrm>
            <a:off x="7315200" y="2688336"/>
            <a:ext cx="1188720" cy="320040"/>
          </a:xfrm>
          <a:prstGeom prst="rect">
            <a:avLst/>
          </a:prstGeom>
          <a:noFill/>
          <a:ln/>
        </p:spPr>
        <p:txBody>
          <a:bodyPr wrap="square" lIns="0" tIns="0" rIns="0" bIns="0" rtlCol="0" anchor="ctr"/>
          <a:lstStyle/>
          <a:p>
            <a:pPr algn="ctr" indent="0" marL="0">
              <a:buNone/>
            </a:pPr>
            <a:r>
              <a:rPr lang="en-US" sz="700" b="1" dirty="0">
                <a:solidFill>
                  <a:srgbClr val="D97706"/>
                </a:solidFill>
                <a:latin typeface="Calibri" pitchFamily="34" charset="0"/>
                <a:ea typeface="Calibri" pitchFamily="34" charset="-122"/>
                <a:cs typeface="Calibri" pitchFamily="34" charset="-120"/>
              </a:rPr>
              <a:t>Unlocks new persona (Developer)</a:t>
            </a:r>
            <a:endParaRPr lang="en-US" sz="700" dirty="0"/>
          </a:p>
        </p:txBody>
      </p:sp>
      <p:sp>
        <p:nvSpPr>
          <p:cNvPr id="28" name="Shape 26"/>
          <p:cNvSpPr/>
          <p:nvPr/>
        </p:nvSpPr>
        <p:spPr>
          <a:xfrm>
            <a:off x="457200" y="3300984"/>
            <a:ext cx="8229600" cy="749808"/>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29" name="Shape 27"/>
          <p:cNvSpPr/>
          <p:nvPr/>
        </p:nvSpPr>
        <p:spPr>
          <a:xfrm>
            <a:off x="457200" y="3300984"/>
            <a:ext cx="8229600" cy="54864"/>
          </a:xfrm>
          <a:prstGeom prst="rect">
            <a:avLst/>
          </a:prstGeom>
          <a:solidFill>
            <a:srgbClr val="D97706"/>
          </a:solidFill>
          <a:ln/>
        </p:spPr>
      </p:sp>
      <p:sp>
        <p:nvSpPr>
          <p:cNvPr id="30" name="Shape 28"/>
          <p:cNvSpPr/>
          <p:nvPr/>
        </p:nvSpPr>
        <p:spPr>
          <a:xfrm>
            <a:off x="594360" y="3410712"/>
            <a:ext cx="457200" cy="201168"/>
          </a:xfrm>
          <a:prstGeom prst="roundRect">
            <a:avLst>
              <a:gd name="adj" fmla="val 13636"/>
            </a:avLst>
          </a:prstGeom>
          <a:solidFill>
            <a:srgbClr val="D97706"/>
          </a:solidFill>
          <a:ln/>
        </p:spPr>
      </p:sp>
      <p:sp>
        <p:nvSpPr>
          <p:cNvPr id="31" name="Text 29"/>
          <p:cNvSpPr/>
          <p:nvPr/>
        </p:nvSpPr>
        <p:spPr>
          <a:xfrm>
            <a:off x="594360" y="3410712"/>
            <a:ext cx="45720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P1</a:t>
            </a:r>
            <a:endParaRPr lang="en-US" sz="800" dirty="0"/>
          </a:p>
        </p:txBody>
      </p:sp>
      <p:sp>
        <p:nvSpPr>
          <p:cNvPr id="32" name="Text 30"/>
          <p:cNvSpPr/>
          <p:nvPr/>
        </p:nvSpPr>
        <p:spPr>
          <a:xfrm>
            <a:off x="1143000" y="3374136"/>
            <a:ext cx="1371600" cy="182880"/>
          </a:xfrm>
          <a:prstGeom prst="rect">
            <a:avLst/>
          </a:prstGeom>
          <a:noFill/>
          <a:ln/>
        </p:spPr>
        <p:txBody>
          <a:bodyPr wrap="square" lIns="0" tIns="0" rIns="0" bIns="0" rtlCol="0" anchor="ctr"/>
          <a:lstStyle/>
          <a:p>
            <a:pPr indent="0" marL="0">
              <a:buNone/>
            </a:pPr>
            <a:r>
              <a:rPr lang="en-US" sz="700" b="1" spc="200" kern="0" dirty="0">
                <a:solidFill>
                  <a:srgbClr val="D97706"/>
                </a:solidFill>
                <a:latin typeface="Calibri" pitchFamily="34" charset="0"/>
                <a:ea typeface="Calibri" pitchFamily="34" charset="-122"/>
                <a:cs typeface="Calibri" pitchFamily="34" charset="-120"/>
              </a:rPr>
              <a:t>REVENUE</a:t>
            </a:r>
            <a:endParaRPr lang="en-US" sz="700" dirty="0"/>
          </a:p>
        </p:txBody>
      </p:sp>
      <p:sp>
        <p:nvSpPr>
          <p:cNvPr id="33" name="Text 31"/>
          <p:cNvSpPr/>
          <p:nvPr/>
        </p:nvSpPr>
        <p:spPr>
          <a:xfrm>
            <a:off x="1143000" y="3557016"/>
            <a:ext cx="5029200" cy="20116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Freemium Subscription Model</a:t>
            </a:r>
            <a:endParaRPr lang="en-US" sz="1100" dirty="0"/>
          </a:p>
        </p:txBody>
      </p:sp>
      <p:sp>
        <p:nvSpPr>
          <p:cNvPr id="34" name="Text 32"/>
          <p:cNvSpPr/>
          <p:nvPr/>
        </p:nvSpPr>
        <p:spPr>
          <a:xfrm>
            <a:off x="1143000" y="3758184"/>
            <a:ext cx="5943600" cy="274320"/>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Free: 3 lessons + basic pet. Pro ($5/mo): unlimited AI lessons, voice chat, all kingdoms, cosmetic shop. Extension stays free to maximize adoption. Follow Mimo's playbook ($10M ARR with 45 people).</a:t>
            </a:r>
            <a:endParaRPr lang="en-US" sz="700" dirty="0"/>
          </a:p>
        </p:txBody>
      </p:sp>
      <p:sp>
        <p:nvSpPr>
          <p:cNvPr id="35" name="Text 33"/>
          <p:cNvSpPr/>
          <p:nvPr/>
        </p:nvSpPr>
        <p:spPr>
          <a:xfrm>
            <a:off x="7315200" y="3529584"/>
            <a:ext cx="1188720" cy="320040"/>
          </a:xfrm>
          <a:prstGeom prst="rect">
            <a:avLst/>
          </a:prstGeom>
          <a:noFill/>
          <a:ln/>
        </p:spPr>
        <p:txBody>
          <a:bodyPr wrap="square" lIns="0" tIns="0" rIns="0" bIns="0" rtlCol="0" anchor="ctr"/>
          <a:lstStyle/>
          <a:p>
            <a:pPr algn="ctr" indent="0" marL="0">
              <a:buNone/>
            </a:pPr>
            <a:r>
              <a:rPr lang="en-US" sz="700" b="1" dirty="0">
                <a:solidFill>
                  <a:srgbClr val="D97706"/>
                </a:solidFill>
                <a:latin typeface="Calibri" pitchFamily="34" charset="0"/>
                <a:ea typeface="Calibri" pitchFamily="34" charset="-122"/>
                <a:cs typeface="Calibri" pitchFamily="34" charset="-120"/>
              </a:rPr>
              <a:t>Path to sustainability</a:t>
            </a:r>
            <a:endParaRPr lang="en-US" sz="700" dirty="0"/>
          </a:p>
        </p:txBody>
      </p:sp>
      <p:sp>
        <p:nvSpPr>
          <p:cNvPr id="36" name="Shape 34"/>
          <p:cNvSpPr/>
          <p:nvPr/>
        </p:nvSpPr>
        <p:spPr>
          <a:xfrm>
            <a:off x="457200" y="4142232"/>
            <a:ext cx="8229600" cy="749808"/>
          </a:xfrm>
          <a:prstGeom prst="rect">
            <a:avLst/>
          </a:prstGeom>
          <a:solidFill>
            <a:srgbClr val="FFFFFF"/>
          </a:solidFill>
          <a:ln/>
          <a:effectLst>
            <a:outerShdw sx="100000" sy="100000" kx="0" ky="0" algn="bl" rotWithShape="0" blurRad="76200" dist="25400" dir="8100000">
              <a:srgbClr val="000000">
                <a:alpha val="7000"/>
              </a:srgbClr>
            </a:outerShdw>
          </a:effectLst>
        </p:spPr>
      </p:sp>
      <p:sp>
        <p:nvSpPr>
          <p:cNvPr id="37" name="Shape 35"/>
          <p:cNvSpPr/>
          <p:nvPr/>
        </p:nvSpPr>
        <p:spPr>
          <a:xfrm>
            <a:off x="457200" y="4142232"/>
            <a:ext cx="8229600" cy="54864"/>
          </a:xfrm>
          <a:prstGeom prst="rect">
            <a:avLst/>
          </a:prstGeom>
          <a:solidFill>
            <a:srgbClr val="0D9488"/>
          </a:solidFill>
          <a:ln/>
        </p:spPr>
      </p:sp>
      <p:sp>
        <p:nvSpPr>
          <p:cNvPr id="38" name="Shape 36"/>
          <p:cNvSpPr/>
          <p:nvPr/>
        </p:nvSpPr>
        <p:spPr>
          <a:xfrm>
            <a:off x="594360" y="4251960"/>
            <a:ext cx="457200" cy="201168"/>
          </a:xfrm>
          <a:prstGeom prst="roundRect">
            <a:avLst>
              <a:gd name="adj" fmla="val 13636"/>
            </a:avLst>
          </a:prstGeom>
          <a:solidFill>
            <a:srgbClr val="0D9488"/>
          </a:solidFill>
          <a:ln/>
        </p:spPr>
      </p:sp>
      <p:sp>
        <p:nvSpPr>
          <p:cNvPr id="39" name="Text 37"/>
          <p:cNvSpPr/>
          <p:nvPr/>
        </p:nvSpPr>
        <p:spPr>
          <a:xfrm>
            <a:off x="594360" y="4251960"/>
            <a:ext cx="45720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P2</a:t>
            </a:r>
            <a:endParaRPr lang="en-US" sz="800" dirty="0"/>
          </a:p>
        </p:txBody>
      </p:sp>
      <p:sp>
        <p:nvSpPr>
          <p:cNvPr id="40" name="Text 38"/>
          <p:cNvSpPr/>
          <p:nvPr/>
        </p:nvSpPr>
        <p:spPr>
          <a:xfrm>
            <a:off x="1143000" y="4215384"/>
            <a:ext cx="1371600" cy="182880"/>
          </a:xfrm>
          <a:prstGeom prst="rect">
            <a:avLst/>
          </a:prstGeom>
          <a:noFill/>
          <a:ln/>
        </p:spPr>
        <p:txBody>
          <a:bodyPr wrap="square" lIns="0" tIns="0" rIns="0" bIns="0" rtlCol="0" anchor="ctr"/>
          <a:lstStyle/>
          <a:p>
            <a:pPr indent="0" marL="0">
              <a:buNone/>
            </a:pPr>
            <a:r>
              <a:rPr lang="en-US" sz="700" b="1" spc="200" kern="0" dirty="0">
                <a:solidFill>
                  <a:srgbClr val="0D9488"/>
                </a:solidFill>
                <a:latin typeface="Calibri" pitchFamily="34" charset="0"/>
                <a:ea typeface="Calibri" pitchFamily="34" charset="-122"/>
                <a:cs typeface="Calibri" pitchFamily="34" charset="-120"/>
              </a:rPr>
              <a:t>PLATFORM</a:t>
            </a:r>
            <a:endParaRPr lang="en-US" sz="700" dirty="0"/>
          </a:p>
        </p:txBody>
      </p:sp>
      <p:sp>
        <p:nvSpPr>
          <p:cNvPr id="41" name="Text 39"/>
          <p:cNvSpPr/>
          <p:nvPr/>
        </p:nvSpPr>
        <p:spPr>
          <a:xfrm>
            <a:off x="1143000" y="4398264"/>
            <a:ext cx="5029200" cy="20116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Web + Mobile Expansion</a:t>
            </a:r>
            <a:endParaRPr lang="en-US" sz="1100" dirty="0"/>
          </a:p>
        </p:txBody>
      </p:sp>
      <p:sp>
        <p:nvSpPr>
          <p:cNvPr id="42" name="Text 40"/>
          <p:cNvSpPr/>
          <p:nvPr/>
        </p:nvSpPr>
        <p:spPr>
          <a:xfrm>
            <a:off x="1143000" y="4599432"/>
            <a:ext cx="5943600" cy="274320"/>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macOS-only limits TAM by 85%. Build a web app (React) sharing the same Firebase backend. Mobile follows. Cross-platform is the competitive moat — learn anywhere, code in VS Code.</a:t>
            </a:r>
            <a:endParaRPr lang="en-US" sz="700" dirty="0"/>
          </a:p>
        </p:txBody>
      </p:sp>
      <p:sp>
        <p:nvSpPr>
          <p:cNvPr id="43" name="Text 41"/>
          <p:cNvSpPr/>
          <p:nvPr/>
        </p:nvSpPr>
        <p:spPr>
          <a:xfrm>
            <a:off x="7315200" y="4370832"/>
            <a:ext cx="1188720" cy="320040"/>
          </a:xfrm>
          <a:prstGeom prst="rect">
            <a:avLst/>
          </a:prstGeom>
          <a:noFill/>
          <a:ln/>
        </p:spPr>
        <p:txBody>
          <a:bodyPr wrap="square" lIns="0" tIns="0" rIns="0" bIns="0" rtlCol="0" anchor="ctr"/>
          <a:lstStyle/>
          <a:p>
            <a:pPr algn="ctr" indent="0" marL="0">
              <a:buNone/>
            </a:pPr>
            <a:r>
              <a:rPr lang="en-US" sz="700" b="1" dirty="0">
                <a:solidFill>
                  <a:srgbClr val="0D9488"/>
                </a:solidFill>
                <a:latin typeface="Calibri" pitchFamily="34" charset="0"/>
                <a:ea typeface="Calibri" pitchFamily="34" charset="-122"/>
                <a:cs typeface="Calibri" pitchFamily="34" charset="-120"/>
              </a:rPr>
              <a:t>10x addressable market</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182880"/>
            <a:ext cx="8229600" cy="228600"/>
          </a:xfrm>
          <a:prstGeom prst="rect">
            <a:avLst/>
          </a:prstGeom>
          <a:noFill/>
          <a:ln/>
        </p:spPr>
        <p:txBody>
          <a:bodyPr wrap="square" lIns="0" tIns="0" rIns="0" bIns="0" rtlCol="0" anchor="ctr"/>
          <a:lstStyle/>
          <a:p>
            <a:pPr indent="0" marL="0">
              <a:buNone/>
            </a:pPr>
            <a:r>
              <a:rPr lang="en-US" sz="700" b="1" spc="300" kern="0" dirty="0">
                <a:solidFill>
                  <a:srgbClr val="A89BF2"/>
                </a:solidFill>
                <a:latin typeface="Calibri" pitchFamily="34" charset="0"/>
                <a:ea typeface="Calibri" pitchFamily="34" charset="-122"/>
                <a:cs typeface="Calibri" pitchFamily="34" charset="-120"/>
              </a:rPr>
              <a:t>DEFENSIBILITY</a:t>
            </a:r>
            <a:endParaRPr lang="en-US" sz="700" dirty="0"/>
          </a:p>
        </p:txBody>
      </p:sp>
      <p:sp>
        <p:nvSpPr>
          <p:cNvPr id="3" name="Text 1"/>
          <p:cNvSpPr/>
          <p:nvPr/>
        </p:nvSpPr>
        <p:spPr>
          <a:xfrm>
            <a:off x="457200" y="411480"/>
            <a:ext cx="8229600" cy="41148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Building the Moat</a:t>
            </a:r>
            <a:endParaRPr lang="en-US" sz="2400" dirty="0"/>
          </a:p>
        </p:txBody>
      </p:sp>
      <p:sp>
        <p:nvSpPr>
          <p:cNvPr id="4" name="Shape 2"/>
          <p:cNvSpPr/>
          <p:nvPr/>
        </p:nvSpPr>
        <p:spPr>
          <a:xfrm>
            <a:off x="457200" y="1005840"/>
            <a:ext cx="8229600" cy="822960"/>
          </a:xfrm>
          <a:prstGeom prst="rect">
            <a:avLst/>
          </a:prstGeom>
          <a:solidFill>
            <a:srgbClr val="FFFFFF">
              <a:alpha val="10000"/>
            </a:srgbClr>
          </a:solidFill>
          <a:ln/>
        </p:spPr>
      </p:sp>
      <p:sp>
        <p:nvSpPr>
          <p:cNvPr id="5" name="Shape 3"/>
          <p:cNvSpPr/>
          <p:nvPr/>
        </p:nvSpPr>
        <p:spPr>
          <a:xfrm>
            <a:off x="457200" y="1005840"/>
            <a:ext cx="64008" cy="822960"/>
          </a:xfrm>
          <a:prstGeom prst="rect">
            <a:avLst/>
          </a:prstGeom>
          <a:solidFill>
            <a:srgbClr val="534AB7"/>
          </a:solidFill>
          <a:ln/>
        </p:spPr>
      </p:sp>
      <p:sp>
        <p:nvSpPr>
          <p:cNvPr id="6" name="Text 4"/>
          <p:cNvSpPr/>
          <p:nvPr/>
        </p:nvSpPr>
        <p:spPr>
          <a:xfrm>
            <a:off x="685800" y="1078992"/>
            <a:ext cx="2286000" cy="201168"/>
          </a:xfrm>
          <a:prstGeom prst="rect">
            <a:avLst/>
          </a:prstGeom>
          <a:noFill/>
          <a:ln/>
        </p:spPr>
        <p:txBody>
          <a:bodyPr wrap="square" lIns="0" tIns="0" rIns="0" bIns="0" rtlCol="0" anchor="ctr"/>
          <a:lstStyle/>
          <a:p>
            <a:pPr indent="0" marL="0">
              <a:buNone/>
            </a:pPr>
            <a:r>
              <a:rPr lang="en-US" sz="1200" b="1" dirty="0">
                <a:solidFill>
                  <a:srgbClr val="534AB7"/>
                </a:solidFill>
                <a:latin typeface="Calibri" pitchFamily="34" charset="0"/>
                <a:ea typeface="Calibri" pitchFamily="34" charset="-122"/>
                <a:cs typeface="Calibri" pitchFamily="34" charset="-120"/>
              </a:rPr>
              <a:t>Emotional Bond</a:t>
            </a:r>
            <a:endParaRPr lang="en-US" sz="1200" dirty="0"/>
          </a:p>
        </p:txBody>
      </p:sp>
      <p:sp>
        <p:nvSpPr>
          <p:cNvPr id="7" name="Text 5"/>
          <p:cNvSpPr/>
          <p:nvPr/>
        </p:nvSpPr>
        <p:spPr>
          <a:xfrm>
            <a:off x="685800" y="1325880"/>
            <a:ext cx="6400800" cy="411480"/>
          </a:xfrm>
          <a:prstGeom prst="rect">
            <a:avLst/>
          </a:prstGeom>
          <a:noFill/>
          <a:ln/>
        </p:spPr>
        <p:txBody>
          <a:bodyPr wrap="square" lIns="0" tIns="0" rIns="0" bIns="0" rtlCol="0" anchor="ctr"/>
          <a:lstStyle/>
          <a:p>
            <a:pPr indent="0" marL="0">
              <a:buNone/>
            </a:pPr>
            <a:r>
              <a:rPr lang="en-US" sz="800" dirty="0">
                <a:solidFill>
                  <a:srgbClr val="A89BF2"/>
                </a:solidFill>
                <a:latin typeface="Calibri" pitchFamily="34" charset="0"/>
                <a:ea typeface="Calibri" pitchFamily="34" charset="-122"/>
                <a:cs typeface="Calibri" pitchFamily="34" charset="-120"/>
              </a:rPr>
              <a:t>Users form attachment to their specific pet character. Switching costs are emotional, not technical. This is Duolingo's secret — the streak guilt works because you care.</a:t>
            </a:r>
            <a:endParaRPr lang="en-US" sz="800" dirty="0"/>
          </a:p>
        </p:txBody>
      </p:sp>
      <p:sp>
        <p:nvSpPr>
          <p:cNvPr id="8" name="Text 6"/>
          <p:cNvSpPr/>
          <p:nvPr/>
        </p:nvSpPr>
        <p:spPr>
          <a:xfrm>
            <a:off x="7315200" y="1078992"/>
            <a:ext cx="1280160" cy="201168"/>
          </a:xfrm>
          <a:prstGeom prst="rect">
            <a:avLst/>
          </a:prstGeom>
          <a:noFill/>
          <a:ln/>
        </p:spPr>
        <p:txBody>
          <a:bodyPr wrap="square" lIns="0" tIns="0" rIns="0" bIns="0" rtlCol="0" anchor="ctr"/>
          <a:lstStyle/>
          <a:p>
            <a:pPr algn="r" indent="0" marL="0">
              <a:buNone/>
            </a:pPr>
            <a:r>
              <a:rPr lang="en-US" sz="700" b="1" dirty="0">
                <a:solidFill>
                  <a:srgbClr val="534AB7"/>
                </a:solidFill>
                <a:latin typeface="Calibri" pitchFamily="34" charset="0"/>
                <a:ea typeface="Calibri" pitchFamily="34" charset="-122"/>
                <a:cs typeface="Calibri" pitchFamily="34" charset="-120"/>
              </a:rPr>
              <a:t>Copy difficulty: Hard</a:t>
            </a:r>
            <a:endParaRPr lang="en-US" sz="700" dirty="0"/>
          </a:p>
        </p:txBody>
      </p:sp>
      <p:sp>
        <p:nvSpPr>
          <p:cNvPr id="9" name="Shape 7"/>
          <p:cNvSpPr/>
          <p:nvPr/>
        </p:nvSpPr>
        <p:spPr>
          <a:xfrm>
            <a:off x="457200" y="1965960"/>
            <a:ext cx="8229600" cy="822960"/>
          </a:xfrm>
          <a:prstGeom prst="rect">
            <a:avLst/>
          </a:prstGeom>
          <a:solidFill>
            <a:srgbClr val="FFFFFF">
              <a:alpha val="10000"/>
            </a:srgbClr>
          </a:solidFill>
          <a:ln/>
        </p:spPr>
      </p:sp>
      <p:sp>
        <p:nvSpPr>
          <p:cNvPr id="10" name="Shape 8"/>
          <p:cNvSpPr/>
          <p:nvPr/>
        </p:nvSpPr>
        <p:spPr>
          <a:xfrm>
            <a:off x="457200" y="1965960"/>
            <a:ext cx="64008" cy="822960"/>
          </a:xfrm>
          <a:prstGeom prst="rect">
            <a:avLst/>
          </a:prstGeom>
          <a:solidFill>
            <a:srgbClr val="0D9488"/>
          </a:solidFill>
          <a:ln/>
        </p:spPr>
      </p:sp>
      <p:sp>
        <p:nvSpPr>
          <p:cNvPr id="11" name="Text 9"/>
          <p:cNvSpPr/>
          <p:nvPr/>
        </p:nvSpPr>
        <p:spPr>
          <a:xfrm>
            <a:off x="685800" y="2039112"/>
            <a:ext cx="2286000" cy="201168"/>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Cross-Product Data</a:t>
            </a:r>
            <a:endParaRPr lang="en-US" sz="1200" dirty="0"/>
          </a:p>
        </p:txBody>
      </p:sp>
      <p:sp>
        <p:nvSpPr>
          <p:cNvPr id="12" name="Text 10"/>
          <p:cNvSpPr/>
          <p:nvPr/>
        </p:nvSpPr>
        <p:spPr>
          <a:xfrm>
            <a:off x="685800" y="2286000"/>
            <a:ext cx="6400800" cy="411480"/>
          </a:xfrm>
          <a:prstGeom prst="rect">
            <a:avLst/>
          </a:prstGeom>
          <a:noFill/>
          <a:ln/>
        </p:spPr>
        <p:txBody>
          <a:bodyPr wrap="square" lIns="0" tIns="0" rIns="0" bIns="0" rtlCol="0" anchor="ctr"/>
          <a:lstStyle/>
          <a:p>
            <a:pPr indent="0" marL="0">
              <a:buNone/>
            </a:pPr>
            <a:r>
              <a:rPr lang="en-US" sz="800" dirty="0">
                <a:solidFill>
                  <a:srgbClr val="A89BF2"/>
                </a:solidFill>
                <a:latin typeface="Calibri" pitchFamily="34" charset="0"/>
                <a:ea typeface="Calibri" pitchFamily="34" charset="-122"/>
                <a:cs typeface="Calibri" pitchFamily="34" charset="-120"/>
              </a:rPr>
              <a:t>Learning progress in app + coding data in extension = unique user profile. No competitor has both. Firebase-synced identity is a lock-in flywheel.</a:t>
            </a:r>
            <a:endParaRPr lang="en-US" sz="800" dirty="0"/>
          </a:p>
        </p:txBody>
      </p:sp>
      <p:sp>
        <p:nvSpPr>
          <p:cNvPr id="13" name="Text 11"/>
          <p:cNvSpPr/>
          <p:nvPr/>
        </p:nvSpPr>
        <p:spPr>
          <a:xfrm>
            <a:off x="7315200" y="2039112"/>
            <a:ext cx="1280160" cy="201168"/>
          </a:xfrm>
          <a:prstGeom prst="rect">
            <a:avLst/>
          </a:prstGeom>
          <a:noFill/>
          <a:ln/>
        </p:spPr>
        <p:txBody>
          <a:bodyPr wrap="square" lIns="0" tIns="0" rIns="0" bIns="0" rtlCol="0" anchor="ctr"/>
          <a:lstStyle/>
          <a:p>
            <a:pPr algn="r" indent="0" marL="0">
              <a:buNone/>
            </a:pPr>
            <a:r>
              <a:rPr lang="en-US" sz="700" b="1" dirty="0">
                <a:solidFill>
                  <a:srgbClr val="0D9488"/>
                </a:solidFill>
                <a:latin typeface="Calibri" pitchFamily="34" charset="0"/>
                <a:ea typeface="Calibri" pitchFamily="34" charset="-122"/>
                <a:cs typeface="Calibri" pitchFamily="34" charset="-120"/>
              </a:rPr>
              <a:t>Copy difficulty: Very Hard</a:t>
            </a:r>
            <a:endParaRPr lang="en-US" sz="700" dirty="0"/>
          </a:p>
        </p:txBody>
      </p:sp>
      <p:sp>
        <p:nvSpPr>
          <p:cNvPr id="14" name="Shape 12"/>
          <p:cNvSpPr/>
          <p:nvPr/>
        </p:nvSpPr>
        <p:spPr>
          <a:xfrm>
            <a:off x="457200" y="2926080"/>
            <a:ext cx="8229600" cy="822960"/>
          </a:xfrm>
          <a:prstGeom prst="rect">
            <a:avLst/>
          </a:prstGeom>
          <a:solidFill>
            <a:srgbClr val="FFFFFF">
              <a:alpha val="10000"/>
            </a:srgbClr>
          </a:solidFill>
          <a:ln/>
        </p:spPr>
      </p:sp>
      <p:sp>
        <p:nvSpPr>
          <p:cNvPr id="15" name="Shape 13"/>
          <p:cNvSpPr/>
          <p:nvPr/>
        </p:nvSpPr>
        <p:spPr>
          <a:xfrm>
            <a:off x="457200" y="2926080"/>
            <a:ext cx="64008" cy="822960"/>
          </a:xfrm>
          <a:prstGeom prst="rect">
            <a:avLst/>
          </a:prstGeom>
          <a:solidFill>
            <a:srgbClr val="D97706"/>
          </a:solidFill>
          <a:ln/>
        </p:spPr>
      </p:sp>
      <p:sp>
        <p:nvSpPr>
          <p:cNvPr id="16" name="Text 14"/>
          <p:cNvSpPr/>
          <p:nvPr/>
        </p:nvSpPr>
        <p:spPr>
          <a:xfrm>
            <a:off x="685800" y="2999232"/>
            <a:ext cx="2286000" cy="201168"/>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Auto-Captured Knowledge</a:t>
            </a:r>
            <a:endParaRPr lang="en-US" sz="1200" dirty="0"/>
          </a:p>
        </p:txBody>
      </p:sp>
      <p:sp>
        <p:nvSpPr>
          <p:cNvPr id="17" name="Text 15"/>
          <p:cNvSpPr/>
          <p:nvPr/>
        </p:nvSpPr>
        <p:spPr>
          <a:xfrm>
            <a:off x="685800" y="3246120"/>
            <a:ext cx="6400800" cy="411480"/>
          </a:xfrm>
          <a:prstGeom prst="rect">
            <a:avLst/>
          </a:prstGeom>
          <a:noFill/>
          <a:ln/>
        </p:spPr>
        <p:txBody>
          <a:bodyPr wrap="square" lIns="0" tIns="0" rIns="0" bIns="0" rtlCol="0" anchor="ctr"/>
          <a:lstStyle/>
          <a:p>
            <a:pPr indent="0" marL="0">
              <a:buNone/>
            </a:pPr>
            <a:r>
              <a:rPr lang="en-US" sz="800" dirty="0">
                <a:solidFill>
                  <a:srgbClr val="A89BF2"/>
                </a:solidFill>
                <a:latin typeface="Calibri" pitchFamily="34" charset="0"/>
                <a:ea typeface="Calibri" pitchFamily="34" charset="-122"/>
                <a:cs typeface="Calibri" pitchFamily="34" charset="-120"/>
              </a:rPr>
              <a:t>Every coding session builds a personal knowledge base. Over months, this becomes irreplaceable — it's YOUR learning history. Switching means losing your journal.</a:t>
            </a:r>
            <a:endParaRPr lang="en-US" sz="800" dirty="0"/>
          </a:p>
        </p:txBody>
      </p:sp>
      <p:sp>
        <p:nvSpPr>
          <p:cNvPr id="18" name="Text 16"/>
          <p:cNvSpPr/>
          <p:nvPr/>
        </p:nvSpPr>
        <p:spPr>
          <a:xfrm>
            <a:off x="7315200" y="2999232"/>
            <a:ext cx="1280160" cy="201168"/>
          </a:xfrm>
          <a:prstGeom prst="rect">
            <a:avLst/>
          </a:prstGeom>
          <a:noFill/>
          <a:ln/>
        </p:spPr>
        <p:txBody>
          <a:bodyPr wrap="square" lIns="0" tIns="0" rIns="0" bIns="0" rtlCol="0" anchor="ctr"/>
          <a:lstStyle/>
          <a:p>
            <a:pPr algn="r" indent="0" marL="0">
              <a:buNone/>
            </a:pPr>
            <a:r>
              <a:rPr lang="en-US" sz="700" b="1" dirty="0">
                <a:solidFill>
                  <a:srgbClr val="D97706"/>
                </a:solidFill>
                <a:latin typeface="Calibri" pitchFamily="34" charset="0"/>
                <a:ea typeface="Calibri" pitchFamily="34" charset="-122"/>
                <a:cs typeface="Calibri" pitchFamily="34" charset="-120"/>
              </a:rPr>
              <a:t>Copy difficulty: Moderate</a:t>
            </a:r>
            <a:endParaRPr lang="en-US" sz="700" dirty="0"/>
          </a:p>
        </p:txBody>
      </p:sp>
      <p:sp>
        <p:nvSpPr>
          <p:cNvPr id="19" name="Shape 17"/>
          <p:cNvSpPr/>
          <p:nvPr/>
        </p:nvSpPr>
        <p:spPr>
          <a:xfrm>
            <a:off x="457200" y="3886200"/>
            <a:ext cx="8229600" cy="822960"/>
          </a:xfrm>
          <a:prstGeom prst="rect">
            <a:avLst/>
          </a:prstGeom>
          <a:solidFill>
            <a:srgbClr val="FFFFFF">
              <a:alpha val="10000"/>
            </a:srgbClr>
          </a:solidFill>
          <a:ln/>
        </p:spPr>
      </p:sp>
      <p:sp>
        <p:nvSpPr>
          <p:cNvPr id="20" name="Shape 18"/>
          <p:cNvSpPr/>
          <p:nvPr/>
        </p:nvSpPr>
        <p:spPr>
          <a:xfrm>
            <a:off x="457200" y="3886200"/>
            <a:ext cx="64008" cy="822960"/>
          </a:xfrm>
          <a:prstGeom prst="rect">
            <a:avLst/>
          </a:prstGeom>
          <a:solidFill>
            <a:srgbClr val="2563EB"/>
          </a:solidFill>
          <a:ln/>
        </p:spPr>
      </p:sp>
      <p:sp>
        <p:nvSpPr>
          <p:cNvPr id="21" name="Text 19"/>
          <p:cNvSpPr/>
          <p:nvPr/>
        </p:nvSpPr>
        <p:spPr>
          <a:xfrm>
            <a:off x="685800" y="3959352"/>
            <a:ext cx="2286000" cy="201168"/>
          </a:xfrm>
          <a:prstGeom prst="rect">
            <a:avLst/>
          </a:prstGeom>
          <a:noFill/>
          <a:ln/>
        </p:spPr>
        <p:txBody>
          <a:bodyPr wrap="square" lIns="0" tIns="0" rIns="0" bIns="0"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Curriculum Network</a:t>
            </a:r>
            <a:endParaRPr lang="en-US" sz="1200" dirty="0"/>
          </a:p>
        </p:txBody>
      </p:sp>
      <p:sp>
        <p:nvSpPr>
          <p:cNvPr id="22" name="Text 20"/>
          <p:cNvSpPr/>
          <p:nvPr/>
        </p:nvSpPr>
        <p:spPr>
          <a:xfrm>
            <a:off x="685800" y="4206240"/>
            <a:ext cx="6400800" cy="411480"/>
          </a:xfrm>
          <a:prstGeom prst="rect">
            <a:avLst/>
          </a:prstGeom>
          <a:noFill/>
          <a:ln/>
        </p:spPr>
        <p:txBody>
          <a:bodyPr wrap="square" lIns="0" tIns="0" rIns="0" bIns="0" rtlCol="0" anchor="ctr"/>
          <a:lstStyle/>
          <a:p>
            <a:pPr indent="0" marL="0">
              <a:buNone/>
            </a:pPr>
            <a:r>
              <a:rPr lang="en-US" sz="800" dirty="0">
                <a:solidFill>
                  <a:srgbClr val="A89BF2"/>
                </a:solidFill>
                <a:latin typeface="Calibri" pitchFamily="34" charset="0"/>
                <a:ea typeface="Calibri" pitchFamily="34" charset="-122"/>
                <a:cs typeface="Calibri" pitchFamily="34" charset="-120"/>
              </a:rPr>
              <a:t>AI-generated lessons that adapt to your actual code + skill gaps. The more you use it, the better it understands what you need to learn next. Cold-start problem for competitors.</a:t>
            </a:r>
            <a:endParaRPr lang="en-US" sz="800" dirty="0"/>
          </a:p>
        </p:txBody>
      </p:sp>
      <p:sp>
        <p:nvSpPr>
          <p:cNvPr id="23" name="Text 21"/>
          <p:cNvSpPr/>
          <p:nvPr/>
        </p:nvSpPr>
        <p:spPr>
          <a:xfrm>
            <a:off x="7315200" y="3959352"/>
            <a:ext cx="1280160" cy="201168"/>
          </a:xfrm>
          <a:prstGeom prst="rect">
            <a:avLst/>
          </a:prstGeom>
          <a:noFill/>
          <a:ln/>
        </p:spPr>
        <p:txBody>
          <a:bodyPr wrap="square" lIns="0" tIns="0" rIns="0" bIns="0" rtlCol="0" anchor="ctr"/>
          <a:lstStyle/>
          <a:p>
            <a:pPr algn="r" indent="0" marL="0">
              <a:buNone/>
            </a:pPr>
            <a:r>
              <a:rPr lang="en-US" sz="700" b="1" dirty="0">
                <a:solidFill>
                  <a:srgbClr val="2563EB"/>
                </a:solidFill>
                <a:latin typeface="Calibri" pitchFamily="34" charset="0"/>
                <a:ea typeface="Calibri" pitchFamily="34" charset="-122"/>
                <a:cs typeface="Calibri" pitchFamily="34" charset="-120"/>
              </a:rPr>
              <a:t>Copy difficulty: Hard</a:t>
            </a:r>
            <a:endParaRPr lang="en-US" sz="700" dirty="0"/>
          </a:p>
        </p:txBody>
      </p:sp>
      <p:sp>
        <p:nvSpPr>
          <p:cNvPr id="24" name="Text 22"/>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950" b="1" i="1" dirty="0">
                <a:solidFill>
                  <a:srgbClr val="A89BF2"/>
                </a:solidFill>
                <a:latin typeface="Calibri" pitchFamily="34" charset="0"/>
                <a:ea typeface="Calibri" pitchFamily="34" charset="-122"/>
                <a:cs typeface="Calibri" pitchFamily="34" charset="-120"/>
              </a:rPr>
              <a:t>Codepet's moat isn't technical — it's the accumulated emotional bond + personal knowledge base that grows over time.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0" y="-914400"/>
            <a:ext cx="4572000" cy="4572000"/>
          </a:xfrm>
          <a:prstGeom prst="ellipse">
            <a:avLst/>
          </a:prstGeom>
          <a:solidFill>
            <a:srgbClr val="2D2664">
              <a:alpha val="50000"/>
            </a:srgbClr>
          </a:solidFill>
          <a:ln/>
        </p:spPr>
      </p:sp>
      <p:sp>
        <p:nvSpPr>
          <p:cNvPr id="3" name="Text 1"/>
          <p:cNvSpPr/>
          <p:nvPr/>
        </p:nvSpPr>
        <p:spPr>
          <a:xfrm>
            <a:off x="731520" y="365760"/>
            <a:ext cx="7315200" cy="228600"/>
          </a:xfrm>
          <a:prstGeom prst="rect">
            <a:avLst/>
          </a:prstGeom>
          <a:noFill/>
          <a:ln/>
        </p:spPr>
        <p:txBody>
          <a:bodyPr wrap="square" lIns="0" tIns="0" rIns="0" bIns="0" rtlCol="0" anchor="ctr"/>
          <a:lstStyle/>
          <a:p>
            <a:pPr indent="0" marL="0">
              <a:buNone/>
            </a:pPr>
            <a:r>
              <a:rPr lang="en-US" sz="700" b="1" spc="300" kern="0" dirty="0">
                <a:solidFill>
                  <a:srgbClr val="A89BF2"/>
                </a:solidFill>
                <a:latin typeface="Calibri" pitchFamily="34" charset="0"/>
                <a:ea typeface="Calibri" pitchFamily="34" charset="-122"/>
                <a:cs typeface="Calibri" pitchFamily="34" charset="-120"/>
              </a:rPr>
              <a:t>SUMMARY</a:t>
            </a:r>
            <a:endParaRPr lang="en-US" sz="700" dirty="0"/>
          </a:p>
        </p:txBody>
      </p:sp>
      <p:sp>
        <p:nvSpPr>
          <p:cNvPr id="4" name="Text 2"/>
          <p:cNvSpPr/>
          <p:nvPr/>
        </p:nvSpPr>
        <p:spPr>
          <a:xfrm>
            <a:off x="731520" y="640080"/>
            <a:ext cx="7315200" cy="45720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Key Takeaways</a:t>
            </a:r>
            <a:endParaRPr lang="en-US" sz="2800" dirty="0"/>
          </a:p>
        </p:txBody>
      </p:sp>
      <p:sp>
        <p:nvSpPr>
          <p:cNvPr id="5" name="Text 3"/>
          <p:cNvSpPr/>
          <p:nvPr/>
        </p:nvSpPr>
        <p:spPr>
          <a:xfrm>
            <a:off x="731520" y="1280160"/>
            <a:ext cx="365760" cy="320040"/>
          </a:xfrm>
          <a:prstGeom prst="rect">
            <a:avLst/>
          </a:prstGeom>
          <a:noFill/>
          <a:ln/>
        </p:spPr>
        <p:txBody>
          <a:bodyPr wrap="square" lIns="0" tIns="0" rIns="0" bIns="0" rtlCol="0" anchor="t"/>
          <a:lstStyle/>
          <a:p>
            <a:pPr indent="0" marL="0">
              <a:buNone/>
            </a:pPr>
            <a:r>
              <a:rPr lang="en-US" sz="2000" b="1" dirty="0">
                <a:solidFill>
                  <a:srgbClr val="7B6BD8"/>
                </a:solidFill>
                <a:latin typeface="Georgia" pitchFamily="34" charset="0"/>
                <a:ea typeface="Georgia" pitchFamily="34" charset="-122"/>
                <a:cs typeface="Georgia" pitchFamily="34" charset="-120"/>
              </a:rPr>
              <a:t>1</a:t>
            </a:r>
            <a:endParaRPr lang="en-US" sz="2000" dirty="0"/>
          </a:p>
        </p:txBody>
      </p:sp>
      <p:sp>
        <p:nvSpPr>
          <p:cNvPr id="6" name="Text 4"/>
          <p:cNvSpPr/>
          <p:nvPr/>
        </p:nvSpPr>
        <p:spPr>
          <a:xfrm>
            <a:off x="1188720" y="1280160"/>
            <a:ext cx="7315200" cy="640080"/>
          </a:xfrm>
          <a:prstGeom prst="rect">
            <a:avLst/>
          </a:prstGeom>
          <a:noFill/>
          <a:ln/>
        </p:spPr>
        <p:txBody>
          <a:bodyPr wrap="square" lIns="0" tIns="0" rIns="0" bIns="0" rtlCol="0" anchor="ctr"/>
          <a:lstStyle/>
          <a:p>
            <a:pPr indent="0" marL="0">
              <a:buNone/>
            </a:pPr>
            <a:r>
              <a:rPr lang="en-US" sz="950" dirty="0">
                <a:solidFill>
                  <a:srgbClr val="A89BF2"/>
                </a:solidFill>
                <a:latin typeface="Calibri" pitchFamily="34" charset="0"/>
                <a:ea typeface="Calibri" pitchFamily="34" charset="-122"/>
                <a:cs typeface="Calibri" pitchFamily="34" charset="-120"/>
              </a:rPr>
              <a:t>Codepet sits at a rare intersection of three high-growth markets: programming education ($64B), gamification (38% CAGR), and AI coding tools ($4.7B). No other product occupies this exact space.</a:t>
            </a:r>
            <a:endParaRPr lang="en-US" sz="950" dirty="0"/>
          </a:p>
        </p:txBody>
      </p:sp>
      <p:sp>
        <p:nvSpPr>
          <p:cNvPr id="7" name="Text 5"/>
          <p:cNvSpPr/>
          <p:nvPr/>
        </p:nvSpPr>
        <p:spPr>
          <a:xfrm>
            <a:off x="731520" y="2011680"/>
            <a:ext cx="365760" cy="320040"/>
          </a:xfrm>
          <a:prstGeom prst="rect">
            <a:avLst/>
          </a:prstGeom>
          <a:noFill/>
          <a:ln/>
        </p:spPr>
        <p:txBody>
          <a:bodyPr wrap="square" lIns="0" tIns="0" rIns="0" bIns="0" rtlCol="0" anchor="t"/>
          <a:lstStyle/>
          <a:p>
            <a:pPr indent="0" marL="0">
              <a:buNone/>
            </a:pPr>
            <a:r>
              <a:rPr lang="en-US" sz="2000" b="1" dirty="0">
                <a:solidFill>
                  <a:srgbClr val="7B6BD8"/>
                </a:solidFill>
                <a:latin typeface="Georgia" pitchFamily="34" charset="0"/>
                <a:ea typeface="Georgia" pitchFamily="34" charset="-122"/>
                <a:cs typeface="Georgia" pitchFamily="34" charset="-120"/>
              </a:rPr>
              <a:t>2</a:t>
            </a:r>
            <a:endParaRPr lang="en-US" sz="2000" dirty="0"/>
          </a:p>
        </p:txBody>
      </p:sp>
      <p:sp>
        <p:nvSpPr>
          <p:cNvPr id="8" name="Text 6"/>
          <p:cNvSpPr/>
          <p:nvPr/>
        </p:nvSpPr>
        <p:spPr>
          <a:xfrm>
            <a:off x="1188720" y="2011680"/>
            <a:ext cx="7315200" cy="640080"/>
          </a:xfrm>
          <a:prstGeom prst="rect">
            <a:avLst/>
          </a:prstGeom>
          <a:noFill/>
          <a:ln/>
        </p:spPr>
        <p:txBody>
          <a:bodyPr wrap="square" lIns="0" tIns="0" rIns="0" bIns="0" rtlCol="0" anchor="ctr"/>
          <a:lstStyle/>
          <a:p>
            <a:pPr indent="0" marL="0">
              <a:buNone/>
            </a:pPr>
            <a:r>
              <a:rPr lang="en-US" sz="950" dirty="0">
                <a:solidFill>
                  <a:srgbClr val="A89BF2"/>
                </a:solidFill>
                <a:latin typeface="Calibri" pitchFamily="34" charset="0"/>
                <a:ea typeface="Calibri" pitchFamily="34" charset="-122"/>
                <a:cs typeface="Calibri" pitchFamily="34" charset="-120"/>
              </a:rPr>
              <a:t>Claude Buddy validates the concept but isn't the real threat — it's a novelty feature, not a product. Mimo ($10M ARR) and a potential Duolingo Coding are the actual competitive risks.</a:t>
            </a:r>
            <a:endParaRPr lang="en-US" sz="950" dirty="0"/>
          </a:p>
        </p:txBody>
      </p:sp>
      <p:sp>
        <p:nvSpPr>
          <p:cNvPr id="9" name="Text 7"/>
          <p:cNvSpPr/>
          <p:nvPr/>
        </p:nvSpPr>
        <p:spPr>
          <a:xfrm>
            <a:off x="731520" y="2743200"/>
            <a:ext cx="365760" cy="320040"/>
          </a:xfrm>
          <a:prstGeom prst="rect">
            <a:avLst/>
          </a:prstGeom>
          <a:noFill/>
          <a:ln/>
        </p:spPr>
        <p:txBody>
          <a:bodyPr wrap="square" lIns="0" tIns="0" rIns="0" bIns="0" rtlCol="0" anchor="t"/>
          <a:lstStyle/>
          <a:p>
            <a:pPr indent="0" marL="0">
              <a:buNone/>
            </a:pPr>
            <a:r>
              <a:rPr lang="en-US" sz="2000" b="1" dirty="0">
                <a:solidFill>
                  <a:srgbClr val="7B6BD8"/>
                </a:solidFill>
                <a:latin typeface="Georgia" pitchFamily="34" charset="0"/>
                <a:ea typeface="Georgia" pitchFamily="34" charset="-122"/>
                <a:cs typeface="Georgia" pitchFamily="34" charset="-120"/>
              </a:rPr>
              <a:t>3</a:t>
            </a:r>
            <a:endParaRPr lang="en-US" sz="2000" dirty="0"/>
          </a:p>
        </p:txBody>
      </p:sp>
      <p:sp>
        <p:nvSpPr>
          <p:cNvPr id="10" name="Text 8"/>
          <p:cNvSpPr/>
          <p:nvPr/>
        </p:nvSpPr>
        <p:spPr>
          <a:xfrm>
            <a:off x="1188720" y="2743200"/>
            <a:ext cx="7315200" cy="640080"/>
          </a:xfrm>
          <a:prstGeom prst="rect">
            <a:avLst/>
          </a:prstGeom>
          <a:noFill/>
          <a:ln/>
        </p:spPr>
        <p:txBody>
          <a:bodyPr wrap="square" lIns="0" tIns="0" rIns="0" bIns="0" rtlCol="0" anchor="ctr"/>
          <a:lstStyle/>
          <a:p>
            <a:pPr indent="0" marL="0">
              <a:buNone/>
            </a:pPr>
            <a:r>
              <a:rPr lang="en-US" sz="950" dirty="0">
                <a:solidFill>
                  <a:srgbClr val="A89BF2"/>
                </a:solidFill>
                <a:latin typeface="Calibri" pitchFamily="34" charset="0"/>
                <a:ea typeface="Calibri" pitchFamily="34" charset="-122"/>
                <a:cs typeface="Calibri" pitchFamily="34" charset="-120"/>
              </a:rPr>
              <a:t>The #1 priority is the content ceiling. Eight lessons isn't a product — it's a demo. AI-generated adaptive lessons are the fastest path to content-market fit.</a:t>
            </a:r>
            <a:endParaRPr lang="en-US" sz="950" dirty="0"/>
          </a:p>
        </p:txBody>
      </p:sp>
      <p:sp>
        <p:nvSpPr>
          <p:cNvPr id="11" name="Text 9"/>
          <p:cNvSpPr/>
          <p:nvPr/>
        </p:nvSpPr>
        <p:spPr>
          <a:xfrm>
            <a:off x="731520" y="3474720"/>
            <a:ext cx="365760" cy="320040"/>
          </a:xfrm>
          <a:prstGeom prst="rect">
            <a:avLst/>
          </a:prstGeom>
          <a:noFill/>
          <a:ln/>
        </p:spPr>
        <p:txBody>
          <a:bodyPr wrap="square" lIns="0" tIns="0" rIns="0" bIns="0" rtlCol="0" anchor="t"/>
          <a:lstStyle/>
          <a:p>
            <a:pPr indent="0" marL="0">
              <a:buNone/>
            </a:pPr>
            <a:r>
              <a:rPr lang="en-US" sz="2000" b="1" dirty="0">
                <a:solidFill>
                  <a:srgbClr val="7B6BD8"/>
                </a:solidFill>
                <a:latin typeface="Georgia" pitchFamily="34" charset="0"/>
                <a:ea typeface="Georgia" pitchFamily="34" charset="-122"/>
                <a:cs typeface="Georgia" pitchFamily="34" charset="-120"/>
              </a:rPr>
              <a:t>4</a:t>
            </a:r>
            <a:endParaRPr lang="en-US" sz="2000" dirty="0"/>
          </a:p>
        </p:txBody>
      </p:sp>
      <p:sp>
        <p:nvSpPr>
          <p:cNvPr id="12" name="Text 10"/>
          <p:cNvSpPr/>
          <p:nvPr/>
        </p:nvSpPr>
        <p:spPr>
          <a:xfrm>
            <a:off x="1188720" y="3474720"/>
            <a:ext cx="7315200" cy="640080"/>
          </a:xfrm>
          <a:prstGeom prst="rect">
            <a:avLst/>
          </a:prstGeom>
          <a:noFill/>
          <a:ln/>
        </p:spPr>
        <p:txBody>
          <a:bodyPr wrap="square" lIns="0" tIns="0" rIns="0" bIns="0" rtlCol="0" anchor="ctr"/>
          <a:lstStyle/>
          <a:p>
            <a:pPr indent="0" marL="0">
              <a:buNone/>
            </a:pPr>
            <a:r>
              <a:rPr lang="en-US" sz="950" dirty="0">
                <a:solidFill>
                  <a:srgbClr val="A89BF2"/>
                </a:solidFill>
                <a:latin typeface="Calibri" pitchFamily="34" charset="0"/>
                <a:ea typeface="Calibri" pitchFamily="34" charset="-122"/>
                <a:cs typeface="Calibri" pitchFamily="34" charset="-120"/>
              </a:rPr>
              <a:t>The cross-product identity (learn in app, build in extension) is a genuine moat that no competitor replicates. Lean into this — it's the unfair advantage.</a:t>
            </a:r>
            <a:endParaRPr lang="en-US" sz="950" dirty="0"/>
          </a:p>
        </p:txBody>
      </p:sp>
      <p:sp>
        <p:nvSpPr>
          <p:cNvPr id="13" name="Text 11"/>
          <p:cNvSpPr/>
          <p:nvPr/>
        </p:nvSpPr>
        <p:spPr>
          <a:xfrm>
            <a:off x="731520" y="4206240"/>
            <a:ext cx="365760" cy="320040"/>
          </a:xfrm>
          <a:prstGeom prst="rect">
            <a:avLst/>
          </a:prstGeom>
          <a:noFill/>
          <a:ln/>
        </p:spPr>
        <p:txBody>
          <a:bodyPr wrap="square" lIns="0" tIns="0" rIns="0" bIns="0" rtlCol="0" anchor="t"/>
          <a:lstStyle/>
          <a:p>
            <a:pPr indent="0" marL="0">
              <a:buNone/>
            </a:pPr>
            <a:r>
              <a:rPr lang="en-US" sz="2000" b="1" dirty="0">
                <a:solidFill>
                  <a:srgbClr val="7B6BD8"/>
                </a:solidFill>
                <a:latin typeface="Georgia" pitchFamily="34" charset="0"/>
                <a:ea typeface="Georgia" pitchFamily="34" charset="-122"/>
                <a:cs typeface="Georgia" pitchFamily="34" charset="-120"/>
              </a:rPr>
              <a:t>5</a:t>
            </a:r>
            <a:endParaRPr lang="en-US" sz="2000" dirty="0"/>
          </a:p>
        </p:txBody>
      </p:sp>
      <p:sp>
        <p:nvSpPr>
          <p:cNvPr id="14" name="Text 12"/>
          <p:cNvSpPr/>
          <p:nvPr/>
        </p:nvSpPr>
        <p:spPr>
          <a:xfrm>
            <a:off x="1188720" y="4206240"/>
            <a:ext cx="7315200" cy="640080"/>
          </a:xfrm>
          <a:prstGeom prst="rect">
            <a:avLst/>
          </a:prstGeom>
          <a:noFill/>
          <a:ln/>
        </p:spPr>
        <p:txBody>
          <a:bodyPr wrap="square" lIns="0" tIns="0" rIns="0" bIns="0" rtlCol="0" anchor="ctr"/>
          <a:lstStyle/>
          <a:p>
            <a:pPr indent="0" marL="0">
              <a:buNone/>
            </a:pPr>
            <a:r>
              <a:rPr lang="en-US" sz="950" dirty="0">
                <a:solidFill>
                  <a:srgbClr val="A89BF2"/>
                </a:solidFill>
                <a:latin typeface="Calibri" pitchFamily="34" charset="0"/>
                <a:ea typeface="Calibri" pitchFamily="34" charset="-122"/>
                <a:cs typeface="Calibri" pitchFamily="34" charset="-120"/>
              </a:rPr>
              <a:t>Revenue is urgent. Follow Mimo's freemium playbook: free tier drives adoption, Pro ($5/mo) unlocks unlimited AI lessons and cosmetics. A 45-person team hit $10M — Codepet can start smaller.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Codepet — Market Analysis &amp; Competitive Positioning</dc:title>
  <dc:subject>PptxGenJS Presentation</dc:subject>
  <dc:creator>MURROR</dc:creator>
  <cp:lastModifiedBy>MURROR</cp:lastModifiedBy>
  <cp:revision>1</cp:revision>
  <dcterms:created xsi:type="dcterms:W3CDTF">2026-04-16T13:11:31Z</dcterms:created>
  <dcterms:modified xsi:type="dcterms:W3CDTF">2026-04-16T13:11:31Z</dcterms:modified>
</cp:coreProperties>
</file>